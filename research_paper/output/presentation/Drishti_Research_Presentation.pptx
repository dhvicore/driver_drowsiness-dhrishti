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8f0404786e543e6" /><Relationship Type="http://schemas.openxmlformats.org/officeDocument/2006/relationships/extended-properties" Target="/docProps/app.xml" Id="Rf09df0c5cd03428b" /><Relationship Type="http://schemas.openxmlformats.org/officeDocument/2006/relationships/officeDocument" Target="/ppt/presentation.xml" Id="Ra679ffe2def14bbc" /></Relationships>
</file>

<file path=ppt/presentation.xml><?xml version="1.0" encoding="utf-8"?>
<p:presentation xmlns:p="http://schemas.openxmlformats.org/presentationml/2006/main">
  <p:sldMasterIdLst>
    <p:sldMasterId xmlns:r="http://schemas.openxmlformats.org/officeDocument/2006/relationships" id="2147483648" r:id="R731bafae65514bac"/>
  </p:sldMasterIdLst>
  <p:notesMasterIdLst>
    <p:notesMasterId xmlns:r="http://schemas.openxmlformats.org/officeDocument/2006/relationships" r:id="R684e59a07a684279"/>
  </p:notesMasterIdLst>
  <p:sldIdLst>
    <p:sldId xmlns:r="http://schemas.openxmlformats.org/officeDocument/2006/relationships" id="256" r:id="Rf82c0305eb244fa2"/>
    <p:sldId xmlns:r="http://schemas.openxmlformats.org/officeDocument/2006/relationships" id="257" r:id="R1eaa4747b9344758"/>
    <p:sldId xmlns:r="http://schemas.openxmlformats.org/officeDocument/2006/relationships" id="258" r:id="Rcdd2c88802c0474d"/>
    <p:sldId xmlns:r="http://schemas.openxmlformats.org/officeDocument/2006/relationships" id="259" r:id="R1ff7ba5e7fcb4ac6"/>
    <p:sldId xmlns:r="http://schemas.openxmlformats.org/officeDocument/2006/relationships" id="260" r:id="Rb0c293f57a854f5f"/>
    <p:sldId xmlns:r="http://schemas.openxmlformats.org/officeDocument/2006/relationships" id="261" r:id="R317426b1b94a4891"/>
    <p:sldId xmlns:r="http://schemas.openxmlformats.org/officeDocument/2006/relationships" id="262" r:id="R2e003e7e15fb4114"/>
    <p:sldId xmlns:r="http://schemas.openxmlformats.org/officeDocument/2006/relationships" id="263" r:id="R438fe6837b87439e"/>
    <p:sldId xmlns:r="http://schemas.openxmlformats.org/officeDocument/2006/relationships" id="264" r:id="Rff97802a7d6d4b2d"/>
    <p:sldId xmlns:r="http://schemas.openxmlformats.org/officeDocument/2006/relationships" id="265" r:id="Rbe119f4514384907"/>
    <p:sldId xmlns:r="http://schemas.openxmlformats.org/officeDocument/2006/relationships" id="266" r:id="R3e69763032114855"/>
    <p:sldId xmlns:r="http://schemas.openxmlformats.org/officeDocument/2006/relationships" id="267" r:id="Rf688105ed4d64f6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f2b8e9c848a4498" /><Relationship Type="http://schemas.openxmlformats.org/officeDocument/2006/relationships/slideMaster" Target="/ppt/slideMasters/slideMaster1.xml" Id="R731bafae65514bac" /><Relationship Type="http://schemas.openxmlformats.org/officeDocument/2006/relationships/notesMaster" Target="/ppt/notesMasters/notesMaster1.xml" Id="R684e59a07a684279" /><Relationship Type="http://schemas.openxmlformats.org/officeDocument/2006/relationships/presProps" Target="/ppt/presProps.xml" Id="R12e6538f77ba4d6d" /><Relationship Type="http://schemas.openxmlformats.org/officeDocument/2006/relationships/tableStyles" Target="/ppt/tableStyles.xml" Id="R9bd5e971755b4eb9" /><Relationship Type="http://schemas.openxmlformats.org/officeDocument/2006/relationships/slide" Target="/ppt/slides/slide1.xml" Id="Rf82c0305eb244fa2" /><Relationship Type="http://schemas.openxmlformats.org/officeDocument/2006/relationships/slide" Target="/ppt/slides/slide2.xml" Id="R1eaa4747b9344758" /><Relationship Type="http://schemas.openxmlformats.org/officeDocument/2006/relationships/slide" Target="/ppt/slides/slide3.xml" Id="Rcdd2c88802c0474d" /><Relationship Type="http://schemas.openxmlformats.org/officeDocument/2006/relationships/slide" Target="/ppt/slides/slide4.xml" Id="R1ff7ba5e7fcb4ac6" /><Relationship Type="http://schemas.openxmlformats.org/officeDocument/2006/relationships/slide" Target="/ppt/slides/slide5.xml" Id="Rb0c293f57a854f5f" /><Relationship Type="http://schemas.openxmlformats.org/officeDocument/2006/relationships/slide" Target="/ppt/slides/slide6.xml" Id="R317426b1b94a4891" /><Relationship Type="http://schemas.openxmlformats.org/officeDocument/2006/relationships/slide" Target="/ppt/slides/slide7.xml" Id="R2e003e7e15fb4114" /><Relationship Type="http://schemas.openxmlformats.org/officeDocument/2006/relationships/slide" Target="/ppt/slides/slide8.xml" Id="R438fe6837b87439e" /><Relationship Type="http://schemas.openxmlformats.org/officeDocument/2006/relationships/slide" Target="/ppt/slides/slide9.xml" Id="Rff97802a7d6d4b2d" /><Relationship Type="http://schemas.openxmlformats.org/officeDocument/2006/relationships/slide" Target="/ppt/slides/slide10.xml" Id="Rbe119f4514384907" /><Relationship Type="http://schemas.openxmlformats.org/officeDocument/2006/relationships/slide" Target="/ppt/slides/slide11.xml" Id="R3e69763032114855" /><Relationship Type="http://schemas.openxmlformats.org/officeDocument/2006/relationships/slide" Target="/ppt/slides/slide12.xml" Id="Rf688105ed4d64f6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6159df462cb42d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93fa734fa944602" /><Relationship Type="http://schemas.openxmlformats.org/officeDocument/2006/relationships/notesMaster" Target="/ppt/notesMasters/notesMaster1.xml" Id="Rfa682ec4a1fd4835" /></Relationships>
</file>

<file path=ppt/notesSlides/_rels/notesSlide2.xml.rels>&#65279;<?xml version="1.0" encoding="utf-8"?><Relationships xmlns="http://schemas.openxmlformats.org/package/2006/relationships"><Relationship Type="http://schemas.openxmlformats.org/officeDocument/2006/relationships/slide" Target="/ppt/slides/slide2.xml" Id="Rb01b2f3c30964229" /><Relationship Type="http://schemas.openxmlformats.org/officeDocument/2006/relationships/notesMaster" Target="/ppt/notesMasters/notesMaster1.xml" Id="R61b2f5ae90ce46ba" /></Relationships>
</file>

<file path=ppt/notesSlides/_rels/notesSlide3.xml.rels>&#65279;<?xml version="1.0" encoding="utf-8"?><Relationships xmlns="http://schemas.openxmlformats.org/package/2006/relationships"><Relationship Type="http://schemas.openxmlformats.org/officeDocument/2006/relationships/slide" Target="/ppt/slides/slide3.xml" Id="R431dcd96567544c6" /><Relationship Type="http://schemas.openxmlformats.org/officeDocument/2006/relationships/notesMaster" Target="/ppt/notesMasters/notesMaster1.xml" Id="R1efc7b89848a4ca3" /></Relationships>
</file>

<file path=ppt/notesSlides/_rels/notesSlide4.xml.rels>&#65279;<?xml version="1.0" encoding="utf-8"?><Relationships xmlns="http://schemas.openxmlformats.org/package/2006/relationships"><Relationship Type="http://schemas.openxmlformats.org/officeDocument/2006/relationships/slide" Target="/ppt/slides/slide4.xml" Id="R430f47be9ced4e32" /><Relationship Type="http://schemas.openxmlformats.org/officeDocument/2006/relationships/notesMaster" Target="/ppt/notesMasters/notesMaster1.xml" Id="R98ed3b681d16415b" /></Relationships>
</file>

<file path=ppt/notesSlides/_rels/notesSlide5.xml.rels>&#65279;<?xml version="1.0" encoding="utf-8"?><Relationships xmlns="http://schemas.openxmlformats.org/package/2006/relationships"><Relationship Type="http://schemas.openxmlformats.org/officeDocument/2006/relationships/slide" Target="/ppt/slides/slide5.xml" Id="Rf05c80b5f5854e81" /><Relationship Type="http://schemas.openxmlformats.org/officeDocument/2006/relationships/notesMaster" Target="/ppt/notesMasters/notesMaster1.xml" Id="Rfe054c8745714101" /></Relationships>
</file>

<file path=ppt/notesSlides/_rels/notesSlide6.xml.rels>&#65279;<?xml version="1.0" encoding="utf-8"?><Relationships xmlns="http://schemas.openxmlformats.org/package/2006/relationships"><Relationship Type="http://schemas.openxmlformats.org/officeDocument/2006/relationships/slide" Target="/ppt/slides/slide6.xml" Id="R571c768eb55c4e0e" /><Relationship Type="http://schemas.openxmlformats.org/officeDocument/2006/relationships/notesMaster" Target="/ppt/notesMasters/notesMaster1.xml" Id="R0a66ac1b222a4669" /></Relationships>
</file>

<file path=ppt/notesSlides/_rels/notesSlide7.xml.rels>&#65279;<?xml version="1.0" encoding="utf-8"?><Relationships xmlns="http://schemas.openxmlformats.org/package/2006/relationships"><Relationship Type="http://schemas.openxmlformats.org/officeDocument/2006/relationships/slide" Target="/ppt/slides/slide7.xml" Id="R4acca4bd596f4af2" /><Relationship Type="http://schemas.openxmlformats.org/officeDocument/2006/relationships/notesMaster" Target="/ppt/notesMasters/notesMaster1.xml" Id="R6e24384338e64b90" /></Relationships>
</file>

<file path=ppt/notesSlides/_rels/notesSlide8.xml.rels>&#65279;<?xml version="1.0" encoding="utf-8"?><Relationships xmlns="http://schemas.openxmlformats.org/package/2006/relationships"><Relationship Type="http://schemas.openxmlformats.org/officeDocument/2006/relationships/slide" Target="/ppt/slides/slide8.xml" Id="R1e7602cdd4ea41bc" /><Relationship Type="http://schemas.openxmlformats.org/officeDocument/2006/relationships/notesMaster" Target="/ppt/notesMasters/notesMaster1.xml" Id="R4d86bc4efb364f06" /></Relationships>
</file>

<file path=ppt/notesSlides/_rels/notesSlide9.xml.rels>&#65279;<?xml version="1.0" encoding="utf-8"?><Relationships xmlns="http://schemas.openxmlformats.org/package/2006/relationships"><Relationship Type="http://schemas.openxmlformats.org/officeDocument/2006/relationships/slide" Target="/ppt/slides/slide9.xml" Id="R8dfc48bd9a6e462b" /><Relationship Type="http://schemas.openxmlformats.org/officeDocument/2006/relationships/notesMaster" Target="/ppt/notesMasters/notesMaster1.xml" Id="R254f3998ab7940c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e8c1c54564c4dd2" /><Relationship Type="http://schemas.openxmlformats.org/officeDocument/2006/relationships/notesMaster" Target="/ppt/notesMasters/notesMaster1.xml" Id="Rc62e80812977432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84c672955714450" /><Relationship Type="http://schemas.openxmlformats.org/officeDocument/2006/relationships/notesMaster" Target="/ppt/notesMasters/notesMaster1.xml" Id="R7a33d8d709f0492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13c8b3462794eb7" /><Relationship Type="http://schemas.openxmlformats.org/officeDocument/2006/relationships/notesMaster" Target="/ppt/notesMasters/notesMaster1.xml" Id="R248e4fb560b54a9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everyone. Today, we are presenting Drishti, our driver drowsiness monitoring project. Our team includes Avani Bhuva, Dhvani Tandel, Krishhma Vira, and Srishtee Varule. The project studies how eye closure and yawning can contribute to warning decisions over time. Our current contribution is a temporal decision engine, supported by controlled software checks.</a:t>
            </a:r>
          </a:p>
          <a:p xmlns:a="http://schemas.openxmlformats.org/drawingml/2006/main">
            <a:r>
              <a:t/>
            </a:r>
          </a:p>
          <a:p xmlns:a="http://schemas.openxmlformats.org/drawingml/2006/main">
            <a:r>
              <a:t>Sources: Corrected Drishti research paper; temporal_engine.py; verify_engine.py.</a:t>
            </a:r>
          </a:p>
          <a:p xmlns:a="http://schemas.openxmlformats.org/drawingml/2006/main">
            <a:r>
              <a:t>Photo: Margo Evardson, Pexels. https://www.pexels.com/photo/woman-resting-on-steering-wheel-in-car-35801682/ . The image does not establish impairment or vehicle motion.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single image cannot reliably explain a driver's condition. Closed eyes may indicate a normal blink, while a longer closure may require attention. Similarly, an open mouth could mean talking or yawning. Drishti therefore examines how long a cue continues and what has happened recently. This temporal context helps the engine distinguish brief movements from sustained or repeated behavior.</a:t>
            </a:r>
          </a:p>
          <a:p xmlns:a="http://schemas.openxmlformats.org/drawingml/2006/main">
            <a:r>
              <a:t/>
            </a:r>
          </a:p>
          <a:p xmlns:a="http://schemas.openxmlformats.org/drawingml/2006/main">
            <a:r>
              <a:t>Sources: Corrected Drishti research paper; temporal_engine.py; verify_engine.py.</a:t>
            </a:r>
          </a:p>
          <a:p xmlns:a="http://schemas.openxmlformats.org/drawingml/2006/main">
            <a:r>
              <a:t>CDC educational poster: https://stacks.cdc.gov/view/cdc/154522 . Public-domain header excerpt.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paper draws on eye aspect ratio methods, physiological PERCLOS research, and datasets such as YawDD and UTA-RLDD. These sources examine different tasks, including blink recognition, yawning, and drowsiness classification. Their results cannot directly establish our system's accuracy. The research comparison helps us identify suitable evaluation resources and the need to calibrate thresholds across different people.</a:t>
            </a:r>
          </a:p>
          <a:p xmlns:a="http://schemas.openxmlformats.org/drawingml/2006/main">
            <a:r>
              <a:t/>
            </a:r>
          </a:p>
          <a:p xmlns:a="http://schemas.openxmlformats.org/drawingml/2006/main">
            <a:r>
              <a:t>Sources: Corrected Drishti research paper; temporal_engine.py; verify_engine.py.</a:t>
            </a:r>
          </a:p>
          <a:p xmlns:a="http://schemas.openxmlformats.org/drawingml/2006/main">
            <a:r>
              <a:t>Paper references [1], [2], [3], [8]. Full research comparison appears on appendix slides 9-11. Published performance figures belong to the cited authors and do not measure Drishti.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intended system begins with a camera and facial landmarks. A feature extraction stage would calculate eye and mouth aspect ratios, called E-A-R and M-A-R. The implemented engine receives those two numbers. It filters recent observations, tracks events, and calculates a warning state. Camera acquisition, landmark extraction, and warning delivery still require integration, so the verified component is the temporal engine shown here.</a:t>
            </a:r>
          </a:p>
          <a:p xmlns:a="http://schemas.openxmlformats.org/drawingml/2006/main">
            <a:r>
              <a:t/>
            </a:r>
          </a:p>
          <a:p xmlns:a="http://schemas.openxmlformats.org/drawingml/2006/main">
            <a:r>
              <a:t>Sources: Corrected Drishti research paper; temporal_engine.py; verify_engine.py.</a:t>
            </a:r>
          </a:p>
          <a:p xmlns:a="http://schemas.openxmlformats.org/drawingml/2006/main">
            <a:r>
              <a:t>Pipeline figure from the corrected paper, based on the implemented TemporalEngine interface. White blocks show integration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engine uses a median filter over up to seven observations to reduce isolated fluctuations. For eye state, it uses two thresholds. Eyes close when filtered E-A-R reaches zero point two three or lower, and reopen at zero point two seven or higher. Between them, the previous state remains unchanged. This behavior is called hysteresis. A yawn requires sufficiently large mouth opening to continue for at least zero point six five seconds.</a:t>
            </a:r>
          </a:p>
          <a:p xmlns:a="http://schemas.openxmlformats.org/drawingml/2006/main">
            <a:r>
              <a:t/>
            </a:r>
          </a:p>
          <a:p xmlns:a="http://schemas.openxmlformats.org/drawingml/2006/main">
            <a:r>
              <a:t>Sources: Corrected Drishti research paper; temporal_engine.py; verify_engine.py.</a:t>
            </a:r>
          </a:p>
          <a:p xmlns:a="http://schemas.openxmlformats.org/drawingml/2006/main">
            <a:r>
              <a:t>Thresholds are engineering choices in temporal_engine.py. They require calibration and participant-level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engine combines current closure duration with recent yawns and a rolling closed-eye sample ratio. It produces four operational states: alert, fatigued, drowsy, and critical. Sustained closure reaches the drowsy rule at one point five seconds and the critical rule at three seconds. Other combinations can also trigger warnings. A smoothed evidence score supports these decisions, but it is not a probability of drowsiness or a clinical diagnosis.</a:t>
            </a:r>
          </a:p>
          <a:p xmlns:a="http://schemas.openxmlformats.org/drawingml/2006/main">
            <a:r>
              <a:t/>
            </a:r>
          </a:p>
          <a:p xmlns:a="http://schemas.openxmlformats.org/drawingml/2006/main">
            <a:r>
              <a:t>Sources: Corrected Drishti research paper; temporal_engine.py; verify_engine.py.</a:t>
            </a:r>
          </a:p>
          <a:p xmlns:a="http://schemas.openxmlformats.org/drawingml/2006/main">
            <a:r>
              <a:t>The slide highlights major duration and fatigue rules. Additional DROWSY rules use the closed-eye sample ratio, long closures and score, as specified in Section IV of the paper. The score is not a calibrated probability. Status selection prioritizes CRITICAL, then DROWSY, then FATIGUED.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checked eight deterministic scenarios using synthetic inputs and a controlled clock. All eight passed their specified assertions. They cover baseline behavior, hysteresis, blink counting, sustained closure, brief mouth opening, repeated yawns, event expiry, and startup behavior. The graph shows one synthetic closure and reopening sequence. It demonstrates filtering delay and changes in warning state. These results verify selected software behavior. They do not establish detection accuracy on real drivers.</a:t>
            </a:r>
          </a:p>
          <a:p xmlns:a="http://schemas.openxmlformats.org/drawingml/2006/main">
            <a:r>
              <a:t/>
            </a:r>
          </a:p>
          <a:p xmlns:a="http://schemas.openxmlformats.org/drawingml/2006/main">
            <a:r>
              <a:t>Sources: Corrected Drishti research paper; temporal_engine.py; verify_engine.py.</a:t>
            </a:r>
          </a:p>
          <a:p xmlns:a="http://schemas.openxmlformats.org/drawingml/2006/main">
            <a:r>
              <a:t>Synthetic trace from the unmodified temporal engine. Raw EAR is 0.15 from 1.05 through 5.00 s and 0.35 otherwise, MAR is 0.15, sampled at 20 Hz using a patched clock. Eight checks: baseline, hysteresis, blink, sustained closure, brief mouth opening, two yawns, yawn expiry and cold start.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next step is to integrate the camera front end and evaluate with independently labeled recordings. Calibration and testing should use different subjects. We should measure missed events, false warnings per hour, detection delay, and processing latency. Drishti currently provides an explainable temporal decision policy. Real-world validation will determine how effectively that policy supports driver monitoring. Thank you. We welcome your questions.</a:t>
            </a:r>
          </a:p>
          <a:p xmlns:a="http://schemas.openxmlformats.org/drawingml/2006/main">
            <a:r>
              <a:t/>
            </a:r>
          </a:p>
          <a:p xmlns:a="http://schemas.openxmlformats.org/drawingml/2006/main">
            <a:r>
              <a:t>Sources: Corrected Drishti research paper; temporal_engine.py; verify_engine.py.</a:t>
            </a:r>
          </a:p>
          <a:p xmlns:a="http://schemas.openxmlformats.org/drawingml/2006/main">
            <a:r>
              <a:t>Evaluation plan in Sections VI-VIII of the corrected paper. Dataset-level discrimination, operational warning performance and latency remain future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 Complete original research comparison, continued across slides 9-11.</a:t>
            </a:r>
          </a:p>
          <a:p xmlns:a="http://schemas.openxmlformats.org/drawingml/2006/main">
            <a:r>
              <a:t/>
            </a:r>
          </a:p>
          <a:p xmlns:a="http://schemas.openxmlformats.org/drawingml/2006/main">
            <a:r>
              <a:t>[1] Federal Highway Administration, “PERCLOS: A valid psychophysiological measure of alertness as assessed by psychomotor vigilance,” TechBrief FHWA-MCRT-98-006, Oct. 1998, doi: 10.21949/1502740.</a:t>
            </a:r>
          </a:p>
          <a:p xmlns:a="http://schemas.openxmlformats.org/drawingml/2006/main">
            <a:r>
              <a:t>[2] T. Soukupová and J. Čech, “Real-time eye blink detection using facial landmarks,” in Proc. 21st Computer Vision Winter Workshop, Rimske Toplice, Slovenia, Feb. 2016. [Online]. Available: https://vision.fe.uni-lj.si/cvww2016/proceedings/papers/05.pdf</a:t>
            </a:r>
          </a:p>
          <a:p xmlns:a="http://schemas.openxmlformats.org/drawingml/2006/main">
            <a:r>
              <a:t>[3] S. Abtahi, M. Omidyeganeh, S. Shirmohammadi, and B. Hariri, “YawDD: A yawning detection dataset,” in Proc. 5th ACM Multimedia Systems Conf., Singapore, 2014, pp. 24–28, doi: 10.1145/2557642.2563678.</a:t>
            </a:r>
          </a:p>
          <a:p xmlns:a="http://schemas.openxmlformats.org/drawingml/2006/main">
            <a:r>
              <a:t>[4] National Highway Traffic Safety Administration, “Drowsy driving,” Accessed: Oct. 16, 2026. [Online]. Available: https://www.nhtsa.gov/risky-driving/drowsy-driving</a:t>
            </a:r>
          </a:p>
          <a:p xmlns:a="http://schemas.openxmlformats.org/drawingml/2006/main">
            <a:r>
              <a:t>[5] Centers for Disease Control and Prevention, “Drowsy driving: Asleep at the wheel,” educational poster, CDC Stacks, Nov. 30, 2022. Accessed: Oct. 16, 2026. [Online]. Available: https://stacks.cdc.gov/view/cdc/154522</a:t>
            </a:r>
          </a:p>
          <a:p xmlns:a="http://schemas.openxmlformats.org/drawingml/2006/main">
            <a:r>
              <a:t>[6] M. Evardson, “Woman resting on steering wheel in car,” photograph, Pexels. Accessed: Oct. 16, 2026. [Online]. Available: https://www.pexels.com/photo/woman-resting-on-steering-wheel-in-car-35801682/</a:t>
            </a:r>
          </a:p>
          <a:p xmlns:a="http://schemas.openxmlformats.org/drawingml/2006/main">
            <a:r>
              <a:t>[7] J. Lyu, Z. Yuan, and D. Chen, “Long-term multi-granularity deep framework for driver drowsiness detection,” 2018, arXiv:1801.02325, doi: 10.48550/arXiv.1801.02325.</a:t>
            </a:r>
          </a:p>
          <a:p xmlns:a="http://schemas.openxmlformats.org/drawingml/2006/main">
            <a:r>
              <a:t>[8] R. Ghoddoosian, M. Galib, and V. Athitsos, “A realistic dataset and baseline temporal model for early drowsiness detection,” in Proc. IEEE/CVF Conf. Computer Vision and Pattern Recognition Workshops (CVPRW), 2019, pp. 178–187, doi: 10.1109/CVPRW.2019.00027.</a:t>
            </a:r>
          </a:p>
          <a:p xmlns:a="http://schemas.openxmlformats.org/drawingml/2006/main">
            <a:r>
              <a:t>[9] C. Dewi, R.-C. Chen, X. Jiang, and H. Yu, “Adjusting eye aspect ratio for strong eye blink detection based on facial landmarks,” PeerJ Comput. Sci., vol. 8, Art. no. e943, 2022, doi: 10.7717/peerj-cs.943.</a:t>
            </a:r>
          </a:p>
          <a:p xmlns:a="http://schemas.openxmlformats.org/drawingml/2006/main">
            <a:r>
              <a:t>[10] A. Mujtaba, G. Radchenko, M. Masana, and R. Prodan, “YawDD+: Frame-level annotations for accurate yawn prediction,” arXiv:2512.11446, ver. 3, May 2026, doi: 10.48550/arXiv.2512.11446.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 Complete original research comparison, continued across slides 9-11.</a:t>
            </a:r>
          </a:p>
          <a:p xmlns:a="http://schemas.openxmlformats.org/drawingml/2006/main">
            <a:r>
              <a:t/>
            </a:r>
          </a:p>
          <a:p xmlns:a="http://schemas.openxmlformats.org/drawingml/2006/main">
            <a:r>
              <a:t>[1] Federal Highway Administration, “PERCLOS: A valid psychophysiological measure of alertness as assessed by psychomotor vigilance,” TechBrief FHWA-MCRT-98-006, Oct. 1998, doi: 10.21949/1502740.</a:t>
            </a:r>
          </a:p>
          <a:p xmlns:a="http://schemas.openxmlformats.org/drawingml/2006/main">
            <a:r>
              <a:t>[2] T. Soukupová and J. Čech, “Real-time eye blink detection using facial landmarks,” in Proc. 21st Computer Vision Winter Workshop, Rimske Toplice, Slovenia, Feb. 2016. [Online]. Available: https://vision.fe.uni-lj.si/cvww2016/proceedings/papers/05.pdf</a:t>
            </a:r>
          </a:p>
          <a:p xmlns:a="http://schemas.openxmlformats.org/drawingml/2006/main">
            <a:r>
              <a:t>[3] S. Abtahi, M. Omidyeganeh, S. Shirmohammadi, and B. Hariri, “YawDD: A yawning detection dataset,” in Proc. 5th ACM Multimedia Systems Conf., Singapore, 2014, pp. 24–28, doi: 10.1145/2557642.2563678.</a:t>
            </a:r>
          </a:p>
          <a:p xmlns:a="http://schemas.openxmlformats.org/drawingml/2006/main">
            <a:r>
              <a:t>[4] National Highway Traffic Safety Administration, “Drowsy driving,” Accessed: Oct. 16, 2026. [Online]. Available: https://www.nhtsa.gov/risky-driving/drowsy-driving</a:t>
            </a:r>
          </a:p>
          <a:p xmlns:a="http://schemas.openxmlformats.org/drawingml/2006/main">
            <a:r>
              <a:t>[5] Centers for Disease Control and Prevention, “Drowsy driving: Asleep at the wheel,” educational poster, CDC Stacks, Nov. 30, 2022. Accessed: Oct. 16, 2026. [Online]. Available: https://stacks.cdc.gov/view/cdc/154522</a:t>
            </a:r>
          </a:p>
          <a:p xmlns:a="http://schemas.openxmlformats.org/drawingml/2006/main">
            <a:r>
              <a:t>[6] M. Evardson, “Woman resting on steering wheel in car,” photograph, Pexels. Accessed: Oct. 16, 2026. [Online]. Available: https://www.pexels.com/photo/woman-resting-on-steering-wheel-in-car-35801682/</a:t>
            </a:r>
          </a:p>
          <a:p xmlns:a="http://schemas.openxmlformats.org/drawingml/2006/main">
            <a:r>
              <a:t>[7] J. Lyu, Z. Yuan, and D. Chen, “Long-term multi-granularity deep framework for driver drowsiness detection,” 2018, arXiv:1801.02325, doi: 10.48550/arXiv.1801.02325.</a:t>
            </a:r>
          </a:p>
          <a:p xmlns:a="http://schemas.openxmlformats.org/drawingml/2006/main">
            <a:r>
              <a:t>[8] R. Ghoddoosian, M. Galib, and V. Athitsos, “A realistic dataset and baseline temporal model for early drowsiness detection,” in Proc. IEEE/CVF Conf. Computer Vision and Pattern Recognition Workshops (CVPRW), 2019, pp. 178–187, doi: 10.1109/CVPRW.2019.00027.</a:t>
            </a:r>
          </a:p>
          <a:p xmlns:a="http://schemas.openxmlformats.org/drawingml/2006/main">
            <a:r>
              <a:t>[9] C. Dewi, R.-C. Chen, X. Jiang, and H. Yu, “Adjusting eye aspect ratio for strong eye blink detection based on facial landmarks,” PeerJ Comput. Sci., vol. 8, Art. no. e943, 2022, doi: 10.7717/peerj-cs.943.</a:t>
            </a:r>
          </a:p>
          <a:p xmlns:a="http://schemas.openxmlformats.org/drawingml/2006/main">
            <a:r>
              <a:t>[10] A. Mujtaba, G. Radchenko, M. Masana, and R. Prodan, “YawDD+: Frame-level annotations for accurate yawn prediction,” arXiv:2512.11446, ver. 3, May 2026, doi: 10.48550/arXiv.2512.11446.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for questions. Complete original research comparison, continued across slides 9-11.</a:t>
            </a:r>
          </a:p>
          <a:p xmlns:a="http://schemas.openxmlformats.org/drawingml/2006/main">
            <a:r>
              <a:t/>
            </a:r>
          </a:p>
          <a:p xmlns:a="http://schemas.openxmlformats.org/drawingml/2006/main">
            <a:r>
              <a:t>[1] Federal Highway Administration, “PERCLOS: A valid psychophysiological measure of alertness as assessed by psychomotor vigilance,” TechBrief FHWA-MCRT-98-006, Oct. 1998, doi: 10.21949/1502740.</a:t>
            </a:r>
          </a:p>
          <a:p xmlns:a="http://schemas.openxmlformats.org/drawingml/2006/main">
            <a:r>
              <a:t>[2] T. Soukupová and J. Čech, “Real-time eye blink detection using facial landmarks,” in Proc. 21st Computer Vision Winter Workshop, Rimske Toplice, Slovenia, Feb. 2016. [Online]. Available: https://vision.fe.uni-lj.si/cvww2016/proceedings/papers/05.pdf</a:t>
            </a:r>
          </a:p>
          <a:p xmlns:a="http://schemas.openxmlformats.org/drawingml/2006/main">
            <a:r>
              <a:t>[3] S. Abtahi, M. Omidyeganeh, S. Shirmohammadi, and B. Hariri, “YawDD: A yawning detection dataset,” in Proc. 5th ACM Multimedia Systems Conf., Singapore, 2014, pp. 24–28, doi: 10.1145/2557642.2563678.</a:t>
            </a:r>
          </a:p>
          <a:p xmlns:a="http://schemas.openxmlformats.org/drawingml/2006/main">
            <a:r>
              <a:t>[4] National Highway Traffic Safety Administration, “Drowsy driving,” Accessed: Oct. 16, 2026. [Online]. Available: https://www.nhtsa.gov/risky-driving/drowsy-driving</a:t>
            </a:r>
          </a:p>
          <a:p xmlns:a="http://schemas.openxmlformats.org/drawingml/2006/main">
            <a:r>
              <a:t>[5] Centers for Disease Control and Prevention, “Drowsy driving: Asleep at the wheel,” educational poster, CDC Stacks, Nov. 30, 2022. Accessed: Oct. 16, 2026. [Online]. Available: https://stacks.cdc.gov/view/cdc/154522</a:t>
            </a:r>
          </a:p>
          <a:p xmlns:a="http://schemas.openxmlformats.org/drawingml/2006/main">
            <a:r>
              <a:t>[6] M. Evardson, “Woman resting on steering wheel in car,” photograph, Pexels. Accessed: Oct. 16, 2026. [Online]. Available: https://www.pexels.com/photo/woman-resting-on-steering-wheel-in-car-35801682/</a:t>
            </a:r>
          </a:p>
          <a:p xmlns:a="http://schemas.openxmlformats.org/drawingml/2006/main">
            <a:r>
              <a:t>[7] J. Lyu, Z. Yuan, and D. Chen, “Long-term multi-granularity deep framework for driver drowsiness detection,” 2018, arXiv:1801.02325, doi: 10.48550/arXiv.1801.02325.</a:t>
            </a:r>
          </a:p>
          <a:p xmlns:a="http://schemas.openxmlformats.org/drawingml/2006/main">
            <a:r>
              <a:t>[8] R. Ghoddoosian, M. Galib, and V. Athitsos, “A realistic dataset and baseline temporal model for early drowsiness detection,” in Proc. IEEE/CVF Conf. Computer Vision and Pattern Recognition Workshops (CVPRW), 2019, pp. 178–187, doi: 10.1109/CVPRW.2019.00027.</a:t>
            </a:r>
          </a:p>
          <a:p xmlns:a="http://schemas.openxmlformats.org/drawingml/2006/main">
            <a:r>
              <a:t>[9] C. Dewi, R.-C. Chen, X. Jiang, and H. Yu, “Adjusting eye aspect ratio for strong eye blink detection based on facial landmarks,” PeerJ Comput. Sci., vol. 8, Art. no. e943, 2022, doi: 10.7717/peerj-cs.943.</a:t>
            </a:r>
          </a:p>
          <a:p xmlns:a="http://schemas.openxmlformats.org/drawingml/2006/main">
            <a:r>
              <a:t>[10] A. Mujtaba, G. Radchenko, M. Masana, and R. Prodan, “YawDD+: Frame-level annotations for accurate yawn prediction,” arXiv:2512.11446, ver. 3, May 2026, doi: 10.48550/arXiv.2512.11446.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Federal Highway Administration, “PERCLOS: A valid psychophysiological measure of alertness as assessed by psychomotor vigilance,” TechBrief FHWA-MCRT-98-006, Oct. 1998, doi: 10.21949/1502740.</a:t>
            </a:r>
          </a:p>
          <a:p xmlns:a="http://schemas.openxmlformats.org/drawingml/2006/main">
            <a:r>
              <a:t/>
            </a:r>
          </a:p>
          <a:p xmlns:a="http://schemas.openxmlformats.org/drawingml/2006/main">
            <a:r>
              <a:t>[2] T. Soukupová and J. Čech, “Real-time eye blink detection using facial landmarks,” in Proc. 21st Computer Vision Winter Workshop, Rimske Toplice, Slovenia, Feb. 2016. [Online]. Available: https://vision.fe.uni-lj.si/cvww2016/proceedings/papers/05.pdf</a:t>
            </a:r>
          </a:p>
          <a:p xmlns:a="http://schemas.openxmlformats.org/drawingml/2006/main">
            <a:r>
              <a:t/>
            </a:r>
          </a:p>
          <a:p xmlns:a="http://schemas.openxmlformats.org/drawingml/2006/main">
            <a:r>
              <a:t>[3] S. Abtahi, M. Omidyeganeh, S. Shirmohammadi, and B. Hariri, “YawDD: A yawning detection dataset,” in Proc. 5th ACM Multimedia Systems Conf., Singapore, 2014, pp. 24–28, doi: 10.1145/2557642.2563678.</a:t>
            </a:r>
          </a:p>
          <a:p xmlns:a="http://schemas.openxmlformats.org/drawingml/2006/main">
            <a:r>
              <a:t/>
            </a:r>
          </a:p>
          <a:p xmlns:a="http://schemas.openxmlformats.org/drawingml/2006/main">
            <a:r>
              <a:t>[4] National Highway Traffic Safety Administration, “Drowsy driving,” Accessed: Oct. 16, 2026. [Online]. Available: https://www.nhtsa.gov/risky-driving/drowsy-driving</a:t>
            </a:r>
          </a:p>
          <a:p xmlns:a="http://schemas.openxmlformats.org/drawingml/2006/main">
            <a:r>
              <a:t/>
            </a:r>
          </a:p>
          <a:p xmlns:a="http://schemas.openxmlformats.org/drawingml/2006/main">
            <a:r>
              <a:t>[5] Centers for Disease Control and Prevention, “Drowsy driving: Asleep at the wheel,” educational poster, CDC Stacks, Nov. 30, 2022. Accessed: Oct. 16, 2026. [Online]. Available: https://stacks.cdc.gov/view/cdc/154522</a:t>
            </a:r>
          </a:p>
          <a:p xmlns:a="http://schemas.openxmlformats.org/drawingml/2006/main">
            <a:r>
              <a:t/>
            </a:r>
          </a:p>
          <a:p xmlns:a="http://schemas.openxmlformats.org/drawingml/2006/main">
            <a:r>
              <a:t>[6] M. Evardson, “Woman resting on steering wheel in car,” photograph, Pexels. Accessed: Oct. 16, 2026. [Online]. Available: https://www.pexels.com/photo/woman-resting-on-steering-wheel-in-car-35801682/</a:t>
            </a:r>
          </a:p>
          <a:p xmlns:a="http://schemas.openxmlformats.org/drawingml/2006/main">
            <a:r>
              <a:t/>
            </a:r>
          </a:p>
          <a:p xmlns:a="http://schemas.openxmlformats.org/drawingml/2006/main">
            <a:r>
              <a:t>[7] J. Lyu, Z. Yuan, and D. Chen, “Long-term multi-granularity deep framework for driver drowsiness detection,” 2018, arXiv:1801.02325, doi: 10.48550/arXiv.1801.02325.</a:t>
            </a:r>
          </a:p>
          <a:p xmlns:a="http://schemas.openxmlformats.org/drawingml/2006/main">
            <a:r>
              <a:t/>
            </a:r>
          </a:p>
          <a:p xmlns:a="http://schemas.openxmlformats.org/drawingml/2006/main">
            <a:r>
              <a:t>[8] R. Ghoddoosian, M. Galib, and V. Athitsos, “A realistic dataset and baseline temporal model for early drowsiness detection,” in Proc. IEEE/CVF Conf. Computer Vision and Pattern Recognition Workshops (CVPRW), 2019, pp. 178–187, doi: 10.1109/CVPRW.2019.00027.</a:t>
            </a:r>
          </a:p>
          <a:p xmlns:a="http://schemas.openxmlformats.org/drawingml/2006/main">
            <a:r>
              <a:t/>
            </a:r>
          </a:p>
          <a:p xmlns:a="http://schemas.openxmlformats.org/drawingml/2006/main">
            <a:r>
              <a:t>[9] C. Dewi, R.-C. Chen, X. Jiang, and H. Yu, “Adjusting eye aspect ratio for strong eye blink detection based on facial landmarks,” PeerJ Comput. Sci., vol. 8, Art. no. e943, 2022, doi: 10.7717/peerj-cs.943.</a:t>
            </a:r>
          </a:p>
          <a:p xmlns:a="http://schemas.openxmlformats.org/drawingml/2006/main">
            <a:r>
              <a:t/>
            </a:r>
          </a:p>
          <a:p xmlns:a="http://schemas.openxmlformats.org/drawingml/2006/main">
            <a:r>
              <a:t>[10] A. Mujtaba, G. Radchenko, M. Masana, and R. Prodan, “YawDD+: Frame-level annotations for accurate yawn prediction,” arXiv:2512.11446, ver. 3, May 2026, doi: 10.48550/arXiv.2512.11446.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e6c86a0981c43f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c9629e252614a0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144f4aadf804bd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0c718c896524cb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403722dcdb6473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66e0be2097e497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E3D3021-84AA-443F-859D-26A5D6AF979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BFB966F-977E-4903-85EE-2CBB19DDB0A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EBDA922-0758-4AAE-921F-47B91F59836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FFFDE47-08B3-4C2E-BD6E-D0B38DF3B25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54B4742-8B37-4D0D-B287-54FDFC4E0C8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B35783C-9513-439F-A4E1-9D141F92B51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709FEAF-2CB9-4085-A53F-9222D2DB6E4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C19B984-8151-47B6-875B-7AC1D0B2D7D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E7DD1AD-2D40-4B23-BC5C-94769D4E79E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F8E2FA7-66AB-4BAB-8EBD-50F685FCD5A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be6d8a1991a4ef5" /><Relationship Type="http://schemas.openxmlformats.org/officeDocument/2006/relationships/slideLayout" Target="/ppt/slideLayouts/slideLayout1.xml" Id="R46daa5b32a1f4808" /><Relationship Type="http://schemas.openxmlformats.org/officeDocument/2006/relationships/slideLayout" Target="/ppt/slideLayouts/slideLayout2.xml" Id="R9947d3d4d1da4726" /><Relationship Type="http://schemas.openxmlformats.org/officeDocument/2006/relationships/slideLayout" Target="/ppt/slideLayouts/slideLayout3.xml" Id="R48770c5a8a484453" /><Relationship Type="http://schemas.openxmlformats.org/officeDocument/2006/relationships/slideLayout" Target="/ppt/slideLayouts/slideLayout4.xml" Id="R07ab37fa688b4b7e" /><Relationship Type="http://schemas.openxmlformats.org/officeDocument/2006/relationships/slideLayout" Target="/ppt/slideLayouts/slideLayout5.xml" Id="R3ef6d7e72e0a4950" /><Relationship Type="http://schemas.openxmlformats.org/officeDocument/2006/relationships/slideLayout" Target="/ppt/slideLayouts/slideLayout6.xml" Id="Re39ef14bb6c94b2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6daa5b32a1f4808"/>
    <p:sldLayoutId xmlns:r="http://schemas.openxmlformats.org/officeDocument/2006/relationships" id="2147483650" r:id="R9947d3d4d1da4726"/>
    <p:sldLayoutId xmlns:r="http://schemas.openxmlformats.org/officeDocument/2006/relationships" id="2147483651" r:id="R48770c5a8a484453"/>
    <p:sldLayoutId xmlns:r="http://schemas.openxmlformats.org/officeDocument/2006/relationships" id="2147483652" r:id="R07ab37fa688b4b7e"/>
    <p:sldLayoutId xmlns:r="http://schemas.openxmlformats.org/officeDocument/2006/relationships" id="2147483653" r:id="R3ef6d7e72e0a4950"/>
    <p:sldLayoutId xmlns:r="http://schemas.openxmlformats.org/officeDocument/2006/relationships" id="2147483654" r:id="Re39ef14bb6c94b2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09cd482d3e64683" /><Relationship Type="http://schemas.openxmlformats.org/officeDocument/2006/relationships/image" Target="/ppt/media/image.jpeg" Id="R67c7f6fbfc004a17" /><Relationship Type="http://schemas.openxmlformats.org/officeDocument/2006/relationships/notesSlide" Target="/ppt/notesSlides/notesSlide1.xml" Id="Re0eb65ad41d54fc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40ed738b37b4810" /><Relationship Type="http://schemas.openxmlformats.org/officeDocument/2006/relationships/image" Target="/ppt/media/image.png" Id="R706063c6884e4c8a" /><Relationship Type="http://schemas.openxmlformats.org/officeDocument/2006/relationships/notesSlide" Target="/ppt/notesSlides/notesSlide2.xml" Id="R813fe3fe64774a9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5970a761d0648ac" /><Relationship Type="http://schemas.openxmlformats.org/officeDocument/2006/relationships/notesSlide" Target="/ppt/notesSlides/notesSlide3.xml" Id="Re6bec64e3c5b4d1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f58c8d726f44c75" /><Relationship Type="http://schemas.openxmlformats.org/officeDocument/2006/relationships/image" Target="/ppt/media/image2.png" Id="R37a377c40b2b42f5" /><Relationship Type="http://schemas.openxmlformats.org/officeDocument/2006/relationships/notesSlide" Target="/ppt/notesSlides/notesSlide4.xml" Id="Rd7b7cc280e44455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368dd5e1d0247d5" /><Relationship Type="http://schemas.openxmlformats.org/officeDocument/2006/relationships/image" Target="/ppt/media/image3.png" Id="R56a67fd97bbc4177" /><Relationship Type="http://schemas.openxmlformats.org/officeDocument/2006/relationships/notesSlide" Target="/ppt/notesSlides/notesSlide5.xml" Id="R911a80d4418341e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70b3fe2133840cc" /><Relationship Type="http://schemas.openxmlformats.org/officeDocument/2006/relationships/notesSlide" Target="/ppt/notesSlides/notesSlide6.xml" Id="R38133c7f5aea40f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d9295157e9b4529" /><Relationship Type="http://schemas.openxmlformats.org/officeDocument/2006/relationships/image" Target="/ppt/media/image4.png" Id="R4ac8d1ba439e420a" /><Relationship Type="http://schemas.openxmlformats.org/officeDocument/2006/relationships/notesSlide" Target="/ppt/notesSlides/notesSlide7.xml" Id="Rf14dd9ea1c38499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9ae5ec4f83645f9" /><Relationship Type="http://schemas.openxmlformats.org/officeDocument/2006/relationships/notesSlide" Target="/ppt/notesSlides/notesSlide8.xml" Id="R62af94dedefb488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6e66e89118a4dcd" /><Relationship Type="http://schemas.openxmlformats.org/officeDocument/2006/relationships/notesSlide" Target="/ppt/notesSlides/notesSlide9.xml" Id="R5f8dda301f0b43f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4cb7b60ff594e22" /><Relationship Type="http://schemas.openxmlformats.org/officeDocument/2006/relationships/notesSlide" Target="/ppt/notesSlides/notesSlide10.xml" Id="R0fc92356a02f4a7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c511ba605ed499e" /><Relationship Type="http://schemas.openxmlformats.org/officeDocument/2006/relationships/notesSlide" Target="/ppt/notesSlides/notesSlide11.xml" Id="R5fe9f5bfe7b4416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6f46cfde93b4382" /><Relationship Type="http://schemas.openxmlformats.org/officeDocument/2006/relationships/notesSlide" Target="/ppt/notesSlides/notesSlide12.xml" Id="R4bbb9e98705c44ef" /></Relationships>
</file>

<file path=ppt/slides/slide1.xml><?xml version="1.0" encoding="utf-8"?>
<p:sld xmlns:p="http://schemas.openxmlformats.org/presentationml/2006/main">
  <p:cSld>
    <p:bg>
      <p:bgPr>
        <a:solidFill xmlns:a="http://schemas.openxmlformats.org/drawingml/2006/main">
          <a:srgbClr val="14364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C029390-FE87-453B-91FB-C819DC47E998}"/>
              </a:ext>
            </a:extLst>
          </p:cNvPr>
          <p:cNvSpPr>
            <a:spLocks xmlns:a="http://schemas.openxmlformats.org/drawingml/2006/main" noGrp="1"/>
          </p:cNvSpPr>
          <p:nvPr/>
        </p:nvSpPr>
        <p:spPr>
          <a:xfrm xmlns:a="http://schemas.openxmlformats.org/drawingml/2006/main">
            <a:off x="571500" y="41910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FFFFF"/>
                </a:solidFill>
                <a:latin typeface="Arial"/>
                <a:ea typeface="Arial"/>
                <a:cs typeface="Arial"/>
              </a:defRPr>
            </a:def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Drishti</a:t>
            </a:r>
          </a:p>
        </p:txBody>
      </p:sp>
      <p:sp>
        <p:nvSpPr>
          <p:cNvPr id="2" name="">
            <a:extLst xmlns:a="http://schemas.openxmlformats.org/drawingml/2006/main">
              <a:ext uri="{FF2B5EF4-FFF2-40B4-BE49-F238E27FC236}">
                <a16:creationId xmlns:a16="http://schemas.microsoft.com/office/drawing/2014/main" id="{42ABA961-590E-405D-874C-825DB596F8E9}"/>
              </a:ext>
            </a:extLst>
          </p:cNvPr>
          <p:cNvSpPr>
            <a:spLocks xmlns:a="http://schemas.openxmlformats.org/drawingml/2006/main" noGrp="1"/>
          </p:cNvSpPr>
          <p:nvPr/>
        </p:nvSpPr>
        <p:spPr>
          <a:xfrm xmlns:a="http://schemas.openxmlformats.org/drawingml/2006/main">
            <a:off x="1133475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D4E5EC"/>
                </a:solidFill>
                <a:latin typeface="Arial"/>
                <a:ea typeface="Arial"/>
                <a:cs typeface="Arial"/>
              </a:defRPr>
            </a:defPPr>
          </a:lstStyle>
          <a:p xmlns:a="http://schemas.openxmlformats.org/drawingml/2006/main">
            <a:pPr>
              <a:defRPr sz="1275" b="0">
                <a:solidFill>
                  <a:srgbClr val="D4E5EC"/>
                </a:solidFill>
                <a:latin typeface="Arial"/>
                <a:ea typeface="Arial"/>
                <a:cs typeface="Arial"/>
              </a:defRPr>
            </a:pPr>
            <a:r>
              <a:rPr sz="1275" b="0">
                <a:solidFill>
                  <a:srgbClr val="D4E5EC"/>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C658B73B-C29F-41B0-B179-3DA9812F7ECB}"/>
              </a:ext>
            </a:extLst>
          </p:cNvPr>
          <p:cNvSpPr>
            <a:spLocks xmlns:a="http://schemas.openxmlformats.org/drawingml/2006/main" noGrp="1"/>
          </p:cNvSpPr>
          <p:nvPr/>
        </p:nvSpPr>
        <p:spPr>
          <a:xfrm xmlns:a="http://schemas.openxmlformats.org/drawingml/2006/main">
            <a:off x="571500" y="1457325"/>
            <a:ext cx="5905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650" b="1">
                <a:solidFill>
                  <a:srgbClr val="FFFFFF"/>
                </a:solidFill>
                <a:latin typeface="Arial"/>
                <a:ea typeface="Arial"/>
                <a:cs typeface="Arial"/>
              </a:defRPr>
            </a:defPPr>
          </a:lstStyle>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Driver drowsiness</a:t>
            </a:r>
          </a:p>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monitoring</a:t>
            </a:r>
          </a:p>
        </p:txBody>
      </p:sp>
      <p:sp>
        <p:nvSpPr>
          <p:cNvPr id="4" name="">
            <a:extLst xmlns:a="http://schemas.openxmlformats.org/drawingml/2006/main">
              <a:ext uri="{FF2B5EF4-FFF2-40B4-BE49-F238E27FC236}">
                <a16:creationId xmlns:a16="http://schemas.microsoft.com/office/drawing/2014/main" id="{75678951-13C3-4FFD-AE59-97050334EF47}"/>
              </a:ext>
            </a:extLst>
          </p:cNvPr>
          <p:cNvSpPr>
            <a:spLocks xmlns:a="http://schemas.openxmlformats.org/drawingml/2006/main" noGrp="1"/>
          </p:cNvSpPr>
          <p:nvPr/>
        </p:nvSpPr>
        <p:spPr>
          <a:xfrm xmlns:a="http://schemas.openxmlformats.org/drawingml/2006/main">
            <a:off x="571500" y="3238500"/>
            <a:ext cx="5905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D4E5EC"/>
                </a:solidFill>
                <a:latin typeface="Arial"/>
                <a:ea typeface="Arial"/>
                <a:cs typeface="Arial"/>
              </a:defRPr>
            </a:defPPr>
          </a:lstStyle>
          <a:p xmlns:a="http://schemas.openxmlformats.org/drawingml/2006/main">
            <a:pPr>
              <a:defRPr sz="2400" b="0">
                <a:solidFill>
                  <a:srgbClr val="D4E5EC"/>
                </a:solidFill>
                <a:latin typeface="Arial"/>
                <a:ea typeface="Arial"/>
                <a:cs typeface="Arial"/>
              </a:defRPr>
            </a:pPr>
            <a:r>
              <a:rPr sz="2400" b="0">
                <a:solidFill>
                  <a:srgbClr val="D4E5EC"/>
                </a:solidFill>
                <a:latin typeface="Arial"/>
                <a:ea typeface="Arial"/>
                <a:cs typeface="Arial"/>
              </a:rPr>
              <a:t>Temporal fusion of eye closure</a:t>
            </a:r>
          </a:p>
          <a:p xmlns:a="http://schemas.openxmlformats.org/drawingml/2006/main">
            <a:pPr>
              <a:defRPr sz="2400" b="0">
                <a:solidFill>
                  <a:srgbClr val="D4E5EC"/>
                </a:solidFill>
                <a:latin typeface="Arial"/>
                <a:ea typeface="Arial"/>
                <a:cs typeface="Arial"/>
              </a:defRPr>
            </a:pPr>
            <a:r>
              <a:rPr sz="2400" b="0">
                <a:solidFill>
                  <a:srgbClr val="D4E5EC"/>
                </a:solidFill>
                <a:latin typeface="Arial"/>
                <a:ea typeface="Arial"/>
                <a:cs typeface="Arial"/>
              </a:rPr>
              <a:t>and yawning</a:t>
            </a:r>
          </a:p>
        </p:txBody>
      </p:sp>
      <p:sp>
        <p:nvSpPr>
          <p:cNvPr id="5" name="">
            <a:extLst xmlns:a="http://schemas.openxmlformats.org/drawingml/2006/main">
              <a:ext uri="{FF2B5EF4-FFF2-40B4-BE49-F238E27FC236}">
                <a16:creationId xmlns:a16="http://schemas.microsoft.com/office/drawing/2014/main" id="{FA832D5D-3B54-4E15-B5FE-EDF35EB1B192}"/>
              </a:ext>
            </a:extLst>
          </p:cNvPr>
          <p:cNvSpPr>
            <a:spLocks xmlns:a="http://schemas.openxmlformats.org/drawingml/2006/main" noGrp="1"/>
          </p:cNvSpPr>
          <p:nvPr/>
        </p:nvSpPr>
        <p:spPr>
          <a:xfrm xmlns:a="http://schemas.openxmlformats.org/drawingml/2006/main">
            <a:off x="571500" y="4810125"/>
            <a:ext cx="619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FFFFFF"/>
                </a:solidFill>
                <a:latin typeface="Arial"/>
                <a:ea typeface="Arial"/>
                <a:cs typeface="Arial"/>
              </a:defRPr>
            </a:defPPr>
          </a:lstStyle>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Avani Bhuva    Dhvani Tandel</a:t>
            </a:r>
          </a:p>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Krishhma Vira    Srishtee Varule</a:t>
            </a:r>
          </a:p>
        </p:txBody>
      </p:sp>
      <p:sp>
        <p:nvSpPr>
          <p:cNvPr id="6" name="">
            <a:extLst xmlns:a="http://schemas.openxmlformats.org/drawingml/2006/main">
              <a:ext uri="{FF2B5EF4-FFF2-40B4-BE49-F238E27FC236}">
                <a16:creationId xmlns:a16="http://schemas.microsoft.com/office/drawing/2014/main" id="{627A5EAE-3BC9-4906-B1FF-6542248D020F}"/>
              </a:ext>
            </a:extLst>
          </p:cNvPr>
          <p:cNvSpPr>
            <a:spLocks xmlns:a="http://schemas.openxmlformats.org/drawingml/2006/main" noGrp="1"/>
          </p:cNvSpPr>
          <p:nvPr/>
        </p:nvSpPr>
        <p:spPr>
          <a:xfrm xmlns:a="http://schemas.openxmlformats.org/drawingml/2006/main">
            <a:off x="571500" y="5695950"/>
            <a:ext cx="619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D4E5EC"/>
                </a:solidFill>
                <a:latin typeface="Arial"/>
                <a:ea typeface="Arial"/>
                <a:cs typeface="Arial"/>
              </a:defRPr>
            </a:defPPr>
          </a:lstStyle>
          <a:p xmlns:a="http://schemas.openxmlformats.org/drawingml/2006/main">
            <a:pPr>
              <a:defRPr sz="1650" b="0">
                <a:solidFill>
                  <a:srgbClr val="D4E5EC"/>
                </a:solidFill>
                <a:latin typeface="Arial"/>
                <a:ea typeface="Arial"/>
                <a:cs typeface="Arial"/>
              </a:defRPr>
            </a:pPr>
            <a:r>
              <a:rPr sz="1650" b="0">
                <a:solidFill>
                  <a:srgbClr val="D4E5EC"/>
                </a:solidFill>
                <a:latin typeface="Arial"/>
                <a:ea typeface="Arial"/>
                <a:cs typeface="Arial"/>
              </a:rPr>
              <a:t>MBATECH Computer Engineering</a:t>
            </a:r>
          </a:p>
          <a:p xmlns:a="http://schemas.openxmlformats.org/drawingml/2006/main">
            <a:pPr>
              <a:defRPr sz="1650" b="0">
                <a:solidFill>
                  <a:srgbClr val="D4E5EC"/>
                </a:solidFill>
                <a:latin typeface="Arial"/>
                <a:ea typeface="Arial"/>
                <a:cs typeface="Arial"/>
              </a:defRPr>
            </a:pPr>
            <a:r>
              <a:rPr sz="1650" b="0">
                <a:solidFill>
                  <a:srgbClr val="D4E5EC"/>
                </a:solidFill>
                <a:latin typeface="Arial"/>
                <a:ea typeface="Arial"/>
                <a:cs typeface="Arial"/>
              </a:rPr>
              <a:t>MPSTME, Mumbai</a:t>
            </a:r>
          </a:p>
        </p:txBody>
      </p:sp>
      <p:pic>
        <p:nvPicPr>
          <p:cNvPr id="7" name="">
            <a:extLst xmlns:a="http://schemas.openxmlformats.org/drawingml/2006/main">
              <a:ext uri="{FF2B5EF4-FFF2-40B4-BE49-F238E27FC236}">
                <a16:creationId xmlns:a16="http://schemas.microsoft.com/office/drawing/2014/main" id="{D5ACA89D-96A1-4382-8312-AB389D228734}"/>
              </a:ext>
            </a:extLst>
          </p:cNvPr>
          <p:cNvPicPr>
            <a:picLocks xmlns:a="http://schemas.openxmlformats.org/drawingml/2006/main" noChangeAspect="1"/>
          </p:cNvPicPr>
          <p:nvPr/>
        </p:nvPicPr>
        <p:blipFill>
          <a:blip xmlns:r="http://schemas.openxmlformats.org/officeDocument/2006/relationships" xmlns:a="http://schemas.openxmlformats.org/drawingml/2006/main" r:embed="R67c7f6fbfc004a17"/>
          <a:srcRect xmlns:a="http://schemas.openxmlformats.org/drawingml/2006/main" l="17603" t="0" r="17603" b="0"/>
          <a:stretch xmlns:a="http://schemas.openxmlformats.org/drawingml/2006/main">
            <a:fillRect l="0" t="0" r="0" b="0"/>
          </a:stretch>
        </p:blipFill>
        <p:spPr>
          <a:xfrm xmlns:a="http://schemas.openxmlformats.org/drawingml/2006/main">
            <a:off x="7162800" y="1352550"/>
            <a:ext cx="4457700"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F5FFD77-34A3-49E5-9E80-4D205C9F0D64}"/>
              </a:ext>
            </a:extLst>
          </p:cNvPr>
          <p:cNvSpPr>
            <a:spLocks xmlns:a="http://schemas.openxmlformats.org/drawingml/2006/main" noGrp="1"/>
          </p:cNvSpPr>
          <p:nvPr/>
        </p:nvSpPr>
        <p:spPr>
          <a:xfrm xmlns:a="http://schemas.openxmlformats.org/drawingml/2006/main">
            <a:off x="7191375" y="5953125"/>
            <a:ext cx="419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D4E5EC"/>
                </a:solidFill>
                <a:latin typeface="Arial"/>
                <a:ea typeface="Arial"/>
                <a:cs typeface="Arial"/>
              </a:defRPr>
            </a:defPPr>
          </a:lstStyle>
          <a:p xmlns:a="http://schemas.openxmlformats.org/drawingml/2006/main">
            <a:pPr>
              <a:defRPr sz="1275" b="0">
                <a:solidFill>
                  <a:srgbClr val="D4E5EC"/>
                </a:solidFill>
                <a:latin typeface="Arial"/>
                <a:ea typeface="Arial"/>
                <a:cs typeface="Arial"/>
              </a:defRPr>
            </a:pPr>
            <a:r>
              <a:rPr sz="1275" b="0">
                <a:solidFill>
                  <a:srgbClr val="D4E5EC"/>
                </a:solidFill>
                <a:latin typeface="Arial"/>
                <a:ea typeface="Arial"/>
                <a:cs typeface="Arial"/>
              </a:rPr>
              <a:t>Illustrative photograph</a:t>
            </a:r>
          </a:p>
        </p:txBody>
      </p:sp>
    </p:spTree>
    <p:extLst>
      <p:ext uri="{BB962C8B-B14F-4D97-AF65-F5344CB8AC3E}">
        <p14:creationId xmlns:p14="http://schemas.microsoft.com/office/powerpoint/2010/main" val="144395291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8065D16-912E-4012-85F3-5C60E77F6B06}"/>
              </a:ext>
            </a:extLst>
          </p:cNvPr>
          <p:cNvSpPr>
            <a:spLocks xmlns:a="http://schemas.openxmlformats.org/drawingml/2006/main" noGrp="1"/>
          </p:cNvSpPr>
          <p:nvPr/>
        </p:nvSpPr>
        <p:spPr>
          <a:xfrm xmlns:a="http://schemas.openxmlformats.org/drawingml/2006/main">
            <a:off x="571500" y="41910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4364D"/>
                </a:solidFill>
                <a:latin typeface="Arial"/>
                <a:ea typeface="Arial"/>
                <a:cs typeface="Arial"/>
              </a:defRPr>
            </a:defPPr>
          </a:lstStyle>
          <a:p xmlns:a="http://schemas.openxmlformats.org/drawingml/2006/main">
            <a:pPr>
              <a:defRPr sz="3450" b="1">
                <a:solidFill>
                  <a:srgbClr val="14364D"/>
                </a:solidFill>
                <a:latin typeface="Arial"/>
                <a:ea typeface="Arial"/>
                <a:cs typeface="Arial"/>
              </a:defRPr>
            </a:pPr>
            <a:r>
              <a:rPr sz="3450" b="1">
                <a:solidFill>
                  <a:srgbClr val="14364D"/>
                </a:solidFill>
                <a:latin typeface="Arial"/>
                <a:ea typeface="Arial"/>
                <a:cs typeface="Arial"/>
              </a:rPr>
              <a:t>Why timing matters</a:t>
            </a:r>
          </a:p>
        </p:txBody>
      </p:sp>
      <p:sp>
        <p:nvSpPr>
          <p:cNvPr id="2" name="">
            <a:extLst xmlns:a="http://schemas.openxmlformats.org/drawingml/2006/main">
              <a:ext uri="{FF2B5EF4-FFF2-40B4-BE49-F238E27FC236}">
                <a16:creationId xmlns:a16="http://schemas.microsoft.com/office/drawing/2014/main" id="{E93EC05A-9089-4DE7-9709-140EF5DD2B72}"/>
              </a:ext>
            </a:extLst>
          </p:cNvPr>
          <p:cNvSpPr>
            <a:spLocks xmlns:a="http://schemas.openxmlformats.org/drawingml/2006/main" noGrp="1"/>
          </p:cNvSpPr>
          <p:nvPr/>
        </p:nvSpPr>
        <p:spPr>
          <a:xfrm xmlns:a="http://schemas.openxmlformats.org/drawingml/2006/main">
            <a:off x="1133475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B78"/>
                </a:solidFill>
                <a:latin typeface="Arial"/>
                <a:ea typeface="Arial"/>
                <a:cs typeface="Arial"/>
              </a:defRPr>
            </a:defPPr>
          </a:lstStyle>
          <a:p xmlns:a="http://schemas.openxmlformats.org/drawingml/2006/main">
            <a:pPr>
              <a:defRPr sz="1275" b="0">
                <a:solidFill>
                  <a:srgbClr val="536B78"/>
                </a:solidFill>
                <a:latin typeface="Arial"/>
                <a:ea typeface="Arial"/>
                <a:cs typeface="Arial"/>
              </a:defRPr>
            </a:pPr>
            <a:r>
              <a:rPr sz="1275" b="0">
                <a:solidFill>
                  <a:srgbClr val="536B78"/>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69566C7B-BC51-4138-80F1-5AB28B98E5F4}"/>
              </a:ext>
            </a:extLst>
          </p:cNvPr>
          <p:cNvSpPr>
            <a:spLocks xmlns:a="http://schemas.openxmlformats.org/drawingml/2006/main" noGrp="1"/>
          </p:cNvSpPr>
          <p:nvPr/>
        </p:nvSpPr>
        <p:spPr>
          <a:xfrm xmlns:a="http://schemas.openxmlformats.org/drawingml/2006/main">
            <a:off x="571500" y="1571625"/>
            <a:ext cx="561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6B79"/>
                </a:solidFill>
                <a:latin typeface="Arial"/>
                <a:ea typeface="Arial"/>
                <a:cs typeface="Arial"/>
              </a:defRPr>
            </a:defPPr>
          </a:lstStyle>
          <a:p xmlns:a="http://schemas.openxmlformats.org/drawingml/2006/main">
            <a:pPr>
              <a:defRPr sz="2325" b="1">
                <a:solidFill>
                  <a:srgbClr val="176B79"/>
                </a:solidFill>
                <a:latin typeface="Arial"/>
                <a:ea typeface="Arial"/>
                <a:cs typeface="Arial"/>
              </a:defRPr>
            </a:pPr>
            <a:r>
              <a:rPr sz="2325" b="1">
                <a:solidFill>
                  <a:srgbClr val="176B79"/>
                </a:solidFill>
                <a:latin typeface="Arial"/>
                <a:ea typeface="Arial"/>
                <a:cs typeface="Arial"/>
              </a:rPr>
              <a:t>A blink is brief</a:t>
            </a:r>
          </a:p>
        </p:txBody>
      </p:sp>
      <p:sp>
        <p:nvSpPr>
          <p:cNvPr id="4" name="">
            <a:extLst xmlns:a="http://schemas.openxmlformats.org/drawingml/2006/main">
              <a:ext uri="{FF2B5EF4-FFF2-40B4-BE49-F238E27FC236}">
                <a16:creationId xmlns:a16="http://schemas.microsoft.com/office/drawing/2014/main" id="{748F0BC1-8DBB-4797-A56C-1A7F68DE8F3B}"/>
              </a:ext>
            </a:extLst>
          </p:cNvPr>
          <p:cNvSpPr>
            <a:spLocks xmlns:a="http://schemas.openxmlformats.org/drawingml/2006/main" noGrp="1"/>
          </p:cNvSpPr>
          <p:nvPr/>
        </p:nvSpPr>
        <p:spPr>
          <a:xfrm xmlns:a="http://schemas.openxmlformats.org/drawingml/2006/main">
            <a:off x="571500" y="2047875"/>
            <a:ext cx="5619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B313E"/>
                </a:solidFill>
                <a:latin typeface="Arial"/>
                <a:ea typeface="Arial"/>
                <a:cs typeface="Arial"/>
              </a:defRPr>
            </a:defPPr>
          </a:lstStyle>
          <a:p xmlns:a="http://schemas.openxmlformats.org/drawingml/2006/main">
            <a:pPr>
              <a:defRPr sz="2025" b="0">
                <a:solidFill>
                  <a:srgbClr val="1B313E"/>
                </a:solidFill>
                <a:latin typeface="Arial"/>
                <a:ea typeface="Arial"/>
                <a:cs typeface="Arial"/>
              </a:defRPr>
            </a:pPr>
            <a:r>
              <a:rPr sz="2025" b="0">
                <a:solidFill>
                  <a:srgbClr val="1B313E"/>
                </a:solidFill>
                <a:latin typeface="Arial"/>
                <a:ea typeface="Arial"/>
                <a:cs typeface="Arial"/>
              </a:rPr>
              <a:t>A sustained eye closure needs a different warning response.</a:t>
            </a:r>
          </a:p>
        </p:txBody>
      </p:sp>
      <p:sp>
        <p:nvSpPr>
          <p:cNvPr id="5" name="">
            <a:extLst xmlns:a="http://schemas.openxmlformats.org/drawingml/2006/main">
              <a:ext uri="{FF2B5EF4-FFF2-40B4-BE49-F238E27FC236}">
                <a16:creationId xmlns:a16="http://schemas.microsoft.com/office/drawing/2014/main" id="{1C39D2DA-836E-4C2A-8619-5D6EF0BD5F7C}"/>
              </a:ext>
            </a:extLst>
          </p:cNvPr>
          <p:cNvSpPr>
            <a:spLocks xmlns:a="http://schemas.openxmlformats.org/drawingml/2006/main" noGrp="1"/>
          </p:cNvSpPr>
          <p:nvPr/>
        </p:nvSpPr>
        <p:spPr>
          <a:xfrm xmlns:a="http://schemas.openxmlformats.org/drawingml/2006/main">
            <a:off x="571500" y="3286125"/>
            <a:ext cx="561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6B79"/>
                </a:solidFill>
                <a:latin typeface="Arial"/>
                <a:ea typeface="Arial"/>
                <a:cs typeface="Arial"/>
              </a:defRPr>
            </a:defPPr>
          </a:lstStyle>
          <a:p xmlns:a="http://schemas.openxmlformats.org/drawingml/2006/main">
            <a:pPr>
              <a:defRPr sz="2325" b="1">
                <a:solidFill>
                  <a:srgbClr val="176B79"/>
                </a:solidFill>
                <a:latin typeface="Arial"/>
                <a:ea typeface="Arial"/>
                <a:cs typeface="Arial"/>
              </a:defRPr>
            </a:pPr>
            <a:r>
              <a:rPr sz="2325" b="1">
                <a:solidFill>
                  <a:srgbClr val="176B79"/>
                </a:solidFill>
                <a:latin typeface="Arial"/>
                <a:ea typeface="Arial"/>
                <a:cs typeface="Arial"/>
              </a:rPr>
              <a:t>Mouth opening is ambiguous</a:t>
            </a:r>
          </a:p>
        </p:txBody>
      </p:sp>
      <p:sp>
        <p:nvSpPr>
          <p:cNvPr id="6" name="">
            <a:extLst xmlns:a="http://schemas.openxmlformats.org/drawingml/2006/main">
              <a:ext uri="{FF2B5EF4-FFF2-40B4-BE49-F238E27FC236}">
                <a16:creationId xmlns:a16="http://schemas.microsoft.com/office/drawing/2014/main" id="{B727823E-1876-434D-A485-4C4CD7298CCA}"/>
              </a:ext>
            </a:extLst>
          </p:cNvPr>
          <p:cNvSpPr>
            <a:spLocks xmlns:a="http://schemas.openxmlformats.org/drawingml/2006/main" noGrp="1"/>
          </p:cNvSpPr>
          <p:nvPr/>
        </p:nvSpPr>
        <p:spPr>
          <a:xfrm xmlns:a="http://schemas.openxmlformats.org/drawingml/2006/main">
            <a:off x="571500" y="3762375"/>
            <a:ext cx="5619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B313E"/>
                </a:solidFill>
                <a:latin typeface="Arial"/>
                <a:ea typeface="Arial"/>
                <a:cs typeface="Arial"/>
              </a:defRPr>
            </a:defPPr>
          </a:lstStyle>
          <a:p xmlns:a="http://schemas.openxmlformats.org/drawingml/2006/main">
            <a:pPr>
              <a:defRPr sz="2025" b="0">
                <a:solidFill>
                  <a:srgbClr val="1B313E"/>
                </a:solidFill>
                <a:latin typeface="Arial"/>
                <a:ea typeface="Arial"/>
                <a:cs typeface="Arial"/>
              </a:defRPr>
            </a:pPr>
            <a:r>
              <a:rPr sz="2025" b="0">
                <a:solidFill>
                  <a:srgbClr val="1B313E"/>
                </a:solidFill>
                <a:latin typeface="Arial"/>
                <a:ea typeface="Arial"/>
                <a:cs typeface="Arial"/>
              </a:rPr>
              <a:t>Duration and recent events help distinguish brief motion from a yawn.</a:t>
            </a:r>
          </a:p>
        </p:txBody>
      </p:sp>
      <p:sp>
        <p:nvSpPr>
          <p:cNvPr id="7" name="">
            <a:extLst xmlns:a="http://schemas.openxmlformats.org/drawingml/2006/main">
              <a:ext uri="{FF2B5EF4-FFF2-40B4-BE49-F238E27FC236}">
                <a16:creationId xmlns:a16="http://schemas.microsoft.com/office/drawing/2014/main" id="{21ACA407-2402-43FE-9CF3-C24D33C72934}"/>
              </a:ext>
            </a:extLst>
          </p:cNvPr>
          <p:cNvSpPr>
            <a:spLocks xmlns:a="http://schemas.openxmlformats.org/drawingml/2006/main" noGrp="1"/>
          </p:cNvSpPr>
          <p:nvPr/>
        </p:nvSpPr>
        <p:spPr>
          <a:xfrm xmlns:a="http://schemas.openxmlformats.org/drawingml/2006/main">
            <a:off x="571500" y="5334000"/>
            <a:ext cx="590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4364D"/>
                </a:solidFill>
                <a:latin typeface="Arial"/>
                <a:ea typeface="Arial"/>
                <a:cs typeface="Arial"/>
              </a:defRPr>
            </a:defPPr>
          </a:lstStyle>
          <a:p xmlns:a="http://schemas.openxmlformats.org/drawingml/2006/main">
            <a:pPr>
              <a:defRPr sz="2325" b="1">
                <a:solidFill>
                  <a:srgbClr val="14364D"/>
                </a:solidFill>
                <a:latin typeface="Arial"/>
                <a:ea typeface="Arial"/>
                <a:cs typeface="Arial"/>
              </a:defRPr>
            </a:pPr>
            <a:r>
              <a:rPr sz="2325" b="1">
                <a:solidFill>
                  <a:srgbClr val="14364D"/>
                </a:solidFill>
                <a:latin typeface="Arial"/>
                <a:ea typeface="Arial"/>
                <a:cs typeface="Arial"/>
              </a:rPr>
              <a:t>Drishti retains time and recent history.</a:t>
            </a:r>
          </a:p>
        </p:txBody>
      </p:sp>
      <p:pic>
        <p:nvPicPr>
          <p:cNvPr id="8" name="">
            <a:extLst xmlns:a="http://schemas.openxmlformats.org/drawingml/2006/main">
              <a:ext uri="{FF2B5EF4-FFF2-40B4-BE49-F238E27FC236}">
                <a16:creationId xmlns:a16="http://schemas.microsoft.com/office/drawing/2014/main" id="{34BA1926-B799-4141-B3AB-505607955571}"/>
              </a:ext>
            </a:extLst>
          </p:cNvPr>
          <p:cNvPicPr>
            <a:picLocks xmlns:a="http://schemas.openxmlformats.org/drawingml/2006/main" noChangeAspect="1"/>
          </p:cNvPicPr>
          <p:nvPr/>
        </p:nvPicPr>
        <p:blipFill>
          <a:blip xmlns:r="http://schemas.openxmlformats.org/officeDocument/2006/relationships" xmlns:a="http://schemas.openxmlformats.org/drawingml/2006/main" r:embed="R706063c6884e4c8a"/>
          <a:stretch xmlns:a="http://schemas.openxmlformats.org/drawingml/2006/main"/>
        </p:blipFill>
        <p:spPr>
          <a:xfrm xmlns:a="http://schemas.openxmlformats.org/drawingml/2006/main">
            <a:off x="7334250" y="2028825"/>
            <a:ext cx="3810000" cy="28575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D01C6B34-9C63-4808-A370-7B00BBFB81A9}"/>
              </a:ext>
            </a:extLst>
          </p:cNvPr>
          <p:cNvSpPr>
            <a:spLocks xmlns:a="http://schemas.openxmlformats.org/drawingml/2006/main" noGrp="1"/>
          </p:cNvSpPr>
          <p:nvPr/>
        </p:nvSpPr>
        <p:spPr>
          <a:xfrm xmlns:a="http://schemas.openxmlformats.org/drawingml/2006/main">
            <a:off x="7334250" y="5629275"/>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B78"/>
                </a:solidFill>
                <a:latin typeface="Arial"/>
                <a:ea typeface="Arial"/>
                <a:cs typeface="Arial"/>
              </a:defRPr>
            </a:defPPr>
          </a:lstStyle>
          <a:p xmlns:a="http://schemas.openxmlformats.org/drawingml/2006/main">
            <a:pPr>
              <a:defRPr sz="1350" b="0">
                <a:solidFill>
                  <a:srgbClr val="536B78"/>
                </a:solidFill>
                <a:latin typeface="Arial"/>
                <a:ea typeface="Arial"/>
                <a:cs typeface="Arial"/>
              </a:defRPr>
            </a:pPr>
            <a:r>
              <a:rPr sz="1350" b="0">
                <a:solidFill>
                  <a:srgbClr val="536B78"/>
                </a:solidFill>
                <a:latin typeface="Arial"/>
                <a:ea typeface="Arial"/>
                <a:cs typeface="Arial"/>
              </a:rPr>
              <a:t>CDC educational illustration</a:t>
            </a:r>
          </a:p>
        </p:txBody>
      </p:sp>
    </p:spTree>
    <p:extLst>
      <p:ext uri="{BB962C8B-B14F-4D97-AF65-F5344CB8AC3E}">
        <p14:creationId xmlns:p14="http://schemas.microsoft.com/office/powerpoint/2010/main" val="112079902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4DEE1A2-64AB-4A83-A3B2-9364E4A2FDD9}"/>
              </a:ext>
            </a:extLst>
          </p:cNvPr>
          <p:cNvSpPr>
            <a:spLocks xmlns:a="http://schemas.openxmlformats.org/drawingml/2006/main" noGrp="1"/>
          </p:cNvSpPr>
          <p:nvPr/>
        </p:nvSpPr>
        <p:spPr>
          <a:xfrm xmlns:a="http://schemas.openxmlformats.org/drawingml/2006/main">
            <a:off x="571500" y="41910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4364D"/>
                </a:solidFill>
                <a:latin typeface="Arial"/>
                <a:ea typeface="Arial"/>
                <a:cs typeface="Arial"/>
              </a:defRPr>
            </a:defPPr>
          </a:lstStyle>
          <a:p xmlns:a="http://schemas.openxmlformats.org/drawingml/2006/main">
            <a:pPr>
              <a:defRPr sz="3450" b="1">
                <a:solidFill>
                  <a:srgbClr val="14364D"/>
                </a:solidFill>
                <a:latin typeface="Arial"/>
                <a:ea typeface="Arial"/>
                <a:cs typeface="Arial"/>
              </a:defRPr>
            </a:pPr>
            <a:r>
              <a:rPr sz="3450" b="1">
                <a:solidFill>
                  <a:srgbClr val="14364D"/>
                </a:solidFill>
                <a:latin typeface="Arial"/>
                <a:ea typeface="Arial"/>
                <a:cs typeface="Arial"/>
              </a:rPr>
              <a:t>Research context</a:t>
            </a:r>
          </a:p>
        </p:txBody>
      </p:sp>
      <p:sp>
        <p:nvSpPr>
          <p:cNvPr id="2" name="">
            <a:extLst xmlns:a="http://schemas.openxmlformats.org/drawingml/2006/main">
              <a:ext uri="{FF2B5EF4-FFF2-40B4-BE49-F238E27FC236}">
                <a16:creationId xmlns:a16="http://schemas.microsoft.com/office/drawing/2014/main" id="{05A4544A-59C9-4809-AD3F-98F757FC53D4}"/>
              </a:ext>
            </a:extLst>
          </p:cNvPr>
          <p:cNvSpPr>
            <a:spLocks xmlns:a="http://schemas.openxmlformats.org/drawingml/2006/main" noGrp="1"/>
          </p:cNvSpPr>
          <p:nvPr/>
        </p:nvSpPr>
        <p:spPr>
          <a:xfrm xmlns:a="http://schemas.openxmlformats.org/drawingml/2006/main">
            <a:off x="1133475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B78"/>
                </a:solidFill>
                <a:latin typeface="Arial"/>
                <a:ea typeface="Arial"/>
                <a:cs typeface="Arial"/>
              </a:defRPr>
            </a:defPPr>
          </a:lstStyle>
          <a:p xmlns:a="http://schemas.openxmlformats.org/drawingml/2006/main">
            <a:pPr>
              <a:defRPr sz="1275" b="0">
                <a:solidFill>
                  <a:srgbClr val="536B78"/>
                </a:solidFill>
                <a:latin typeface="Arial"/>
                <a:ea typeface="Arial"/>
                <a:cs typeface="Arial"/>
              </a:defRPr>
            </a:pPr>
            <a:r>
              <a:rPr sz="1275" b="0">
                <a:solidFill>
                  <a:srgbClr val="536B78"/>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B7AC2651-C769-4B7F-AAEF-4B5F3A9E8426}"/>
              </a:ext>
            </a:extLst>
          </p:cNvPr>
          <p:cNvSpPr>
            <a:spLocks xmlns:a="http://schemas.openxmlformats.org/drawingml/2006/main" noGrp="1"/>
          </p:cNvSpPr>
          <p:nvPr/>
        </p:nvSpPr>
        <p:spPr>
          <a:xfrm xmlns:a="http://schemas.openxmlformats.org/drawingml/2006/main">
            <a:off x="571500" y="1666875"/>
            <a:ext cx="328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6B79"/>
                </a:solidFill>
                <a:latin typeface="Arial"/>
                <a:ea typeface="Arial"/>
                <a:cs typeface="Arial"/>
              </a:defRPr>
            </a:defPPr>
          </a:lstStyle>
          <a:p xmlns:a="http://schemas.openxmlformats.org/drawingml/2006/main">
            <a:pPr>
              <a:defRPr sz="2325" b="1">
                <a:solidFill>
                  <a:srgbClr val="176B79"/>
                </a:solidFill>
                <a:latin typeface="Arial"/>
                <a:ea typeface="Arial"/>
                <a:cs typeface="Arial"/>
              </a:defRPr>
            </a:pPr>
            <a:r>
              <a:rPr sz="2325" b="1">
                <a:solidFill>
                  <a:srgbClr val="176B79"/>
                </a:solidFill>
                <a:latin typeface="Arial"/>
                <a:ea typeface="Arial"/>
                <a:cs typeface="Arial"/>
              </a:rPr>
              <a:t>Eye geometry</a:t>
            </a:r>
          </a:p>
        </p:txBody>
      </p:sp>
      <p:sp>
        <p:nvSpPr>
          <p:cNvPr id="4" name="">
            <a:extLst xmlns:a="http://schemas.openxmlformats.org/drawingml/2006/main">
              <a:ext uri="{FF2B5EF4-FFF2-40B4-BE49-F238E27FC236}">
                <a16:creationId xmlns:a16="http://schemas.microsoft.com/office/drawing/2014/main" id="{0EED75A7-D7CF-4427-9D96-E673DE877E67}"/>
              </a:ext>
            </a:extLst>
          </p:cNvPr>
          <p:cNvSpPr>
            <a:spLocks xmlns:a="http://schemas.openxmlformats.org/drawingml/2006/main" noGrp="1"/>
          </p:cNvSpPr>
          <p:nvPr/>
        </p:nvSpPr>
        <p:spPr>
          <a:xfrm xmlns:a="http://schemas.openxmlformats.org/drawingml/2006/main">
            <a:off x="4238625" y="1666875"/>
            <a:ext cx="7191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B313E"/>
                </a:solidFill>
                <a:latin typeface="Arial"/>
                <a:ea typeface="Arial"/>
                <a:cs typeface="Arial"/>
              </a:defRPr>
            </a:defPPr>
          </a:lstStyle>
          <a:p xmlns:a="http://schemas.openxmlformats.org/drawingml/2006/main">
            <a:pPr>
              <a:defRPr sz="2250" b="0">
                <a:solidFill>
                  <a:srgbClr val="1B313E"/>
                </a:solidFill>
                <a:latin typeface="Arial"/>
                <a:ea typeface="Arial"/>
                <a:cs typeface="Arial"/>
              </a:defRPr>
            </a:pPr>
            <a:r>
              <a:rPr sz="2250" b="0">
                <a:solidFill>
                  <a:srgbClr val="1B313E"/>
                </a:solidFill>
                <a:latin typeface="Arial"/>
                <a:ea typeface="Arial"/>
                <a:cs typeface="Arial"/>
              </a:rPr>
              <a:t>EAR supports landmark-based blink analysis.</a:t>
            </a:r>
          </a:p>
        </p:txBody>
      </p:sp>
      <p:sp>
        <p:nvSpPr>
          <p:cNvPr id="5" name="">
            <a:extLst xmlns:a="http://schemas.openxmlformats.org/drawingml/2006/main">
              <a:ext uri="{FF2B5EF4-FFF2-40B4-BE49-F238E27FC236}">
                <a16:creationId xmlns:a16="http://schemas.microsoft.com/office/drawing/2014/main" id="{90F4DDEA-383F-4F9A-989E-4A194C142CB8}"/>
              </a:ext>
            </a:extLst>
          </p:cNvPr>
          <p:cNvSpPr>
            <a:spLocks xmlns:a="http://schemas.openxmlformats.org/drawingml/2006/main" noGrp="1"/>
          </p:cNvSpPr>
          <p:nvPr/>
        </p:nvSpPr>
        <p:spPr>
          <a:xfrm xmlns:a="http://schemas.openxmlformats.org/drawingml/2006/main">
            <a:off x="571500" y="2971800"/>
            <a:ext cx="328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6B79"/>
                </a:solidFill>
                <a:latin typeface="Arial"/>
                <a:ea typeface="Arial"/>
                <a:cs typeface="Arial"/>
              </a:defRPr>
            </a:defPPr>
          </a:lstStyle>
          <a:p xmlns:a="http://schemas.openxmlformats.org/drawingml/2006/main">
            <a:pPr>
              <a:defRPr sz="2325" b="1">
                <a:solidFill>
                  <a:srgbClr val="176B79"/>
                </a:solidFill>
                <a:latin typeface="Arial"/>
                <a:ea typeface="Arial"/>
                <a:cs typeface="Arial"/>
              </a:defRPr>
            </a:pPr>
            <a:r>
              <a:rPr sz="2325" b="1">
                <a:solidFill>
                  <a:srgbClr val="176B79"/>
                </a:solidFill>
                <a:latin typeface="Arial"/>
                <a:ea typeface="Arial"/>
                <a:cs typeface="Arial"/>
              </a:rPr>
              <a:t>Temporal behavior</a:t>
            </a:r>
          </a:p>
        </p:txBody>
      </p:sp>
      <p:sp>
        <p:nvSpPr>
          <p:cNvPr id="6" name="">
            <a:extLst xmlns:a="http://schemas.openxmlformats.org/drawingml/2006/main">
              <a:ext uri="{FF2B5EF4-FFF2-40B4-BE49-F238E27FC236}">
                <a16:creationId xmlns:a16="http://schemas.microsoft.com/office/drawing/2014/main" id="{3DD54219-5CB2-4D62-AA16-3B8C752DC808}"/>
              </a:ext>
            </a:extLst>
          </p:cNvPr>
          <p:cNvSpPr>
            <a:spLocks xmlns:a="http://schemas.openxmlformats.org/drawingml/2006/main" noGrp="1"/>
          </p:cNvSpPr>
          <p:nvPr/>
        </p:nvSpPr>
        <p:spPr>
          <a:xfrm xmlns:a="http://schemas.openxmlformats.org/drawingml/2006/main">
            <a:off x="4238625" y="2971800"/>
            <a:ext cx="7191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B313E"/>
                </a:solidFill>
                <a:latin typeface="Arial"/>
                <a:ea typeface="Arial"/>
                <a:cs typeface="Arial"/>
              </a:defRPr>
            </a:defPPr>
          </a:lstStyle>
          <a:p xmlns:a="http://schemas.openxmlformats.org/drawingml/2006/main">
            <a:pPr>
              <a:defRPr sz="2250" b="0">
                <a:solidFill>
                  <a:srgbClr val="1B313E"/>
                </a:solidFill>
                <a:latin typeface="Arial"/>
                <a:ea typeface="Arial"/>
                <a:cs typeface="Arial"/>
              </a:defRPr>
            </a:pPr>
            <a:r>
              <a:rPr sz="2250" b="0">
                <a:solidFill>
                  <a:srgbClr val="1B313E"/>
                </a:solidFill>
                <a:latin typeface="Arial"/>
                <a:ea typeface="Arial"/>
                <a:cs typeface="Arial"/>
              </a:rPr>
              <a:t>PERCLOS research motivates observation over time.</a:t>
            </a:r>
          </a:p>
        </p:txBody>
      </p:sp>
      <p:sp>
        <p:nvSpPr>
          <p:cNvPr id="7" name="">
            <a:extLst xmlns:a="http://schemas.openxmlformats.org/drawingml/2006/main">
              <a:ext uri="{FF2B5EF4-FFF2-40B4-BE49-F238E27FC236}">
                <a16:creationId xmlns:a16="http://schemas.microsoft.com/office/drawing/2014/main" id="{80E86D21-3AB6-4B30-A30E-4E94FAA9C673}"/>
              </a:ext>
            </a:extLst>
          </p:cNvPr>
          <p:cNvSpPr>
            <a:spLocks xmlns:a="http://schemas.openxmlformats.org/drawingml/2006/main" noGrp="1"/>
          </p:cNvSpPr>
          <p:nvPr/>
        </p:nvSpPr>
        <p:spPr>
          <a:xfrm xmlns:a="http://schemas.openxmlformats.org/drawingml/2006/main">
            <a:off x="571500" y="4276725"/>
            <a:ext cx="328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6B79"/>
                </a:solidFill>
                <a:latin typeface="Arial"/>
                <a:ea typeface="Arial"/>
                <a:cs typeface="Arial"/>
              </a:defRPr>
            </a:defPPr>
          </a:lstStyle>
          <a:p xmlns:a="http://schemas.openxmlformats.org/drawingml/2006/main">
            <a:pPr>
              <a:defRPr sz="2325" b="1">
                <a:solidFill>
                  <a:srgbClr val="176B79"/>
                </a:solidFill>
                <a:latin typeface="Arial"/>
                <a:ea typeface="Arial"/>
                <a:cs typeface="Arial"/>
              </a:defRPr>
            </a:pPr>
            <a:r>
              <a:rPr sz="2325" b="1">
                <a:solidFill>
                  <a:srgbClr val="176B79"/>
                </a:solidFill>
                <a:latin typeface="Arial"/>
                <a:ea typeface="Arial"/>
                <a:cs typeface="Arial"/>
              </a:rPr>
              <a:t>Evaluation resources</a:t>
            </a:r>
          </a:p>
        </p:txBody>
      </p:sp>
      <p:sp>
        <p:nvSpPr>
          <p:cNvPr id="8" name="">
            <a:extLst xmlns:a="http://schemas.openxmlformats.org/drawingml/2006/main">
              <a:ext uri="{FF2B5EF4-FFF2-40B4-BE49-F238E27FC236}">
                <a16:creationId xmlns:a16="http://schemas.microsoft.com/office/drawing/2014/main" id="{56A72641-406B-4849-9846-B93682EEAB16}"/>
              </a:ext>
            </a:extLst>
          </p:cNvPr>
          <p:cNvSpPr>
            <a:spLocks xmlns:a="http://schemas.openxmlformats.org/drawingml/2006/main" noGrp="1"/>
          </p:cNvSpPr>
          <p:nvPr/>
        </p:nvSpPr>
        <p:spPr>
          <a:xfrm xmlns:a="http://schemas.openxmlformats.org/drawingml/2006/main">
            <a:off x="4238625" y="4276725"/>
            <a:ext cx="7191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B313E"/>
                </a:solidFill>
                <a:latin typeface="Arial"/>
                <a:ea typeface="Arial"/>
                <a:cs typeface="Arial"/>
              </a:defRPr>
            </a:defPPr>
          </a:lstStyle>
          <a:p xmlns:a="http://schemas.openxmlformats.org/drawingml/2006/main">
            <a:pPr>
              <a:defRPr sz="2250" b="0">
                <a:solidFill>
                  <a:srgbClr val="1B313E"/>
                </a:solidFill>
                <a:latin typeface="Arial"/>
                <a:ea typeface="Arial"/>
                <a:cs typeface="Arial"/>
              </a:defRPr>
            </a:pPr>
            <a:r>
              <a:rPr sz="2250" b="0">
                <a:solidFill>
                  <a:srgbClr val="1B313E"/>
                </a:solidFill>
                <a:latin typeface="Arial"/>
                <a:ea typeface="Arial"/>
                <a:cs typeface="Arial"/>
              </a:rPr>
              <a:t>YawDD supports yawn analysis. UTA-RLDD provides drowsiness labels.</a:t>
            </a:r>
          </a:p>
        </p:txBody>
      </p:sp>
      <p:sp>
        <p:nvSpPr>
          <p:cNvPr id="9" name="">
            <a:extLst xmlns:a="http://schemas.openxmlformats.org/drawingml/2006/main">
              <a:ext uri="{FF2B5EF4-FFF2-40B4-BE49-F238E27FC236}">
                <a16:creationId xmlns:a16="http://schemas.microsoft.com/office/drawing/2014/main" id="{B2781C83-F122-419D-A3DC-680D5536E449}"/>
              </a:ext>
            </a:extLst>
          </p:cNvPr>
          <p:cNvSpPr>
            <a:spLocks xmlns:a="http://schemas.openxmlformats.org/drawingml/2006/main" noGrp="1"/>
          </p:cNvSpPr>
          <p:nvPr/>
        </p:nvSpPr>
        <p:spPr>
          <a:xfrm xmlns:a="http://schemas.openxmlformats.org/drawingml/2006/main">
            <a:off x="571500" y="57626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364D"/>
                </a:solidFill>
                <a:latin typeface="Arial"/>
                <a:ea typeface="Arial"/>
                <a:cs typeface="Arial"/>
              </a:defRPr>
            </a:defPPr>
          </a:lstStyle>
          <a:p xmlns:a="http://schemas.openxmlformats.org/drawingml/2006/main">
            <a:pPr>
              <a:defRPr sz="2100" b="1">
                <a:solidFill>
                  <a:srgbClr val="14364D"/>
                </a:solidFill>
                <a:latin typeface="Arial"/>
                <a:ea typeface="Arial"/>
                <a:cs typeface="Arial"/>
              </a:defRPr>
            </a:pPr>
            <a:r>
              <a:rPr sz="2100" b="1">
                <a:solidFill>
                  <a:srgbClr val="14364D"/>
                </a:solidFill>
                <a:latin typeface="Arial"/>
                <a:ea typeface="Arial"/>
                <a:cs typeface="Arial"/>
              </a:rPr>
              <a:t>Different labels and protocols require separate evaluation.</a:t>
            </a:r>
          </a:p>
        </p:txBody>
      </p:sp>
    </p:spTree>
    <p:extLst>
      <p:ext uri="{BB962C8B-B14F-4D97-AF65-F5344CB8AC3E}">
        <p14:creationId xmlns:p14="http://schemas.microsoft.com/office/powerpoint/2010/main" val="47915112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DF6ECBF-A207-4673-82DE-28A5DF781573}"/>
              </a:ext>
            </a:extLst>
          </p:cNvPr>
          <p:cNvSpPr>
            <a:spLocks xmlns:a="http://schemas.openxmlformats.org/drawingml/2006/main" noGrp="1"/>
          </p:cNvSpPr>
          <p:nvPr/>
        </p:nvSpPr>
        <p:spPr>
          <a:xfrm xmlns:a="http://schemas.openxmlformats.org/drawingml/2006/main">
            <a:off x="571500" y="41910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4364D"/>
                </a:solidFill>
                <a:latin typeface="Arial"/>
                <a:ea typeface="Arial"/>
                <a:cs typeface="Arial"/>
              </a:defRPr>
            </a:defPPr>
          </a:lstStyle>
          <a:p xmlns:a="http://schemas.openxmlformats.org/drawingml/2006/main">
            <a:pPr>
              <a:defRPr sz="3450" b="1">
                <a:solidFill>
                  <a:srgbClr val="14364D"/>
                </a:solidFill>
                <a:latin typeface="Arial"/>
                <a:ea typeface="Arial"/>
                <a:cs typeface="Arial"/>
              </a:defRPr>
            </a:pPr>
            <a:r>
              <a:rPr sz="3450" b="1">
                <a:solidFill>
                  <a:srgbClr val="14364D"/>
                </a:solidFill>
                <a:latin typeface="Arial"/>
                <a:ea typeface="Arial"/>
                <a:cs typeface="Arial"/>
              </a:rPr>
              <a:t>System pipeline</a:t>
            </a:r>
          </a:p>
        </p:txBody>
      </p:sp>
      <p:sp>
        <p:nvSpPr>
          <p:cNvPr id="2" name="">
            <a:extLst xmlns:a="http://schemas.openxmlformats.org/drawingml/2006/main">
              <a:ext uri="{FF2B5EF4-FFF2-40B4-BE49-F238E27FC236}">
                <a16:creationId xmlns:a16="http://schemas.microsoft.com/office/drawing/2014/main" id="{6775F3E3-E8C8-47CB-A2F7-925AEA5C93EF}"/>
              </a:ext>
            </a:extLst>
          </p:cNvPr>
          <p:cNvSpPr>
            <a:spLocks xmlns:a="http://schemas.openxmlformats.org/drawingml/2006/main" noGrp="1"/>
          </p:cNvSpPr>
          <p:nvPr/>
        </p:nvSpPr>
        <p:spPr>
          <a:xfrm xmlns:a="http://schemas.openxmlformats.org/drawingml/2006/main">
            <a:off x="1133475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B78"/>
                </a:solidFill>
                <a:latin typeface="Arial"/>
                <a:ea typeface="Arial"/>
                <a:cs typeface="Arial"/>
              </a:defRPr>
            </a:defPPr>
          </a:lstStyle>
          <a:p xmlns:a="http://schemas.openxmlformats.org/drawingml/2006/main">
            <a:pPr>
              <a:defRPr sz="1275" b="0">
                <a:solidFill>
                  <a:srgbClr val="536B78"/>
                </a:solidFill>
                <a:latin typeface="Arial"/>
                <a:ea typeface="Arial"/>
                <a:cs typeface="Arial"/>
              </a:defRPr>
            </a:pPr>
            <a:r>
              <a:rPr sz="1275" b="0">
                <a:solidFill>
                  <a:srgbClr val="536B78"/>
                </a:solidFill>
                <a:latin typeface="Arial"/>
                <a:ea typeface="Arial"/>
                <a:cs typeface="Arial"/>
              </a:rPr>
              <a:t>04</a:t>
            </a:r>
          </a:p>
        </p:txBody>
      </p:sp>
      <p:pic>
        <p:nvPicPr>
          <p:cNvPr id="3" name="">
            <a:extLst xmlns:a="http://schemas.openxmlformats.org/drawingml/2006/main">
              <a:ext uri="{FF2B5EF4-FFF2-40B4-BE49-F238E27FC236}">
                <a16:creationId xmlns:a16="http://schemas.microsoft.com/office/drawing/2014/main" id="{6B7DBC85-A3C1-4CEB-9115-56D5E25231C2}"/>
              </a:ext>
            </a:extLst>
          </p:cNvPr>
          <p:cNvPicPr>
            <a:picLocks xmlns:a="http://schemas.openxmlformats.org/drawingml/2006/main" noChangeAspect="1"/>
          </p:cNvPicPr>
          <p:nvPr/>
        </p:nvPicPr>
        <p:blipFill>
          <a:blip xmlns:r="http://schemas.openxmlformats.org/officeDocument/2006/relationships" xmlns:a="http://schemas.openxmlformats.org/drawingml/2006/main" r:embed="R37a377c40b2b42f5"/>
          <a:stretch xmlns:a="http://schemas.openxmlformats.org/drawingml/2006/main"/>
        </p:blipFill>
        <p:spPr>
          <a:xfrm xmlns:a="http://schemas.openxmlformats.org/drawingml/2006/main">
            <a:off x="6191250" y="1847850"/>
            <a:ext cx="5334000" cy="34004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5C480A7-B659-4ACF-A54D-D8767CBA1589}"/>
              </a:ext>
            </a:extLst>
          </p:cNvPr>
          <p:cNvSpPr>
            <a:spLocks xmlns:a="http://schemas.openxmlformats.org/drawingml/2006/main" noGrp="1"/>
          </p:cNvSpPr>
          <p:nvPr/>
        </p:nvSpPr>
        <p:spPr>
          <a:xfrm xmlns:a="http://schemas.openxmlformats.org/drawingml/2006/main">
            <a:off x="571500" y="1714500"/>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6B79"/>
                </a:solidFill>
                <a:latin typeface="Arial"/>
                <a:ea typeface="Arial"/>
                <a:cs typeface="Arial"/>
              </a:defRPr>
            </a:defPPr>
          </a:lstStyle>
          <a:p xmlns:a="http://schemas.openxmlformats.org/drawingml/2006/main">
            <a:pPr>
              <a:defRPr sz="2325" b="1">
                <a:solidFill>
                  <a:srgbClr val="176B79"/>
                </a:solidFill>
                <a:latin typeface="Arial"/>
                <a:ea typeface="Arial"/>
                <a:cs typeface="Arial"/>
              </a:defRPr>
            </a:pPr>
            <a:r>
              <a:rPr sz="2325" b="1">
                <a:solidFill>
                  <a:srgbClr val="176B79"/>
                </a:solidFill>
                <a:latin typeface="Arial"/>
                <a:ea typeface="Arial"/>
                <a:cs typeface="Arial"/>
              </a:rPr>
              <a:t>Input</a:t>
            </a:r>
          </a:p>
        </p:txBody>
      </p:sp>
      <p:sp>
        <p:nvSpPr>
          <p:cNvPr id="5" name="">
            <a:extLst xmlns:a="http://schemas.openxmlformats.org/drawingml/2006/main">
              <a:ext uri="{FF2B5EF4-FFF2-40B4-BE49-F238E27FC236}">
                <a16:creationId xmlns:a16="http://schemas.microsoft.com/office/drawing/2014/main" id="{C2119504-1905-48D2-ADA1-F0C852221225}"/>
              </a:ext>
            </a:extLst>
          </p:cNvPr>
          <p:cNvSpPr>
            <a:spLocks xmlns:a="http://schemas.openxmlformats.org/drawingml/2006/main" noGrp="1"/>
          </p:cNvSpPr>
          <p:nvPr/>
        </p:nvSpPr>
        <p:spPr>
          <a:xfrm xmlns:a="http://schemas.openxmlformats.org/drawingml/2006/main">
            <a:off x="571500" y="2190750"/>
            <a:ext cx="4857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B313E"/>
                </a:solidFill>
                <a:latin typeface="Arial"/>
                <a:ea typeface="Arial"/>
                <a:cs typeface="Arial"/>
              </a:defRPr>
            </a:defPPr>
          </a:lstStyle>
          <a:p xmlns:a="http://schemas.openxmlformats.org/drawingml/2006/main">
            <a:pPr>
              <a:defRPr sz="2025" b="0">
                <a:solidFill>
                  <a:srgbClr val="1B313E"/>
                </a:solidFill>
                <a:latin typeface="Arial"/>
                <a:ea typeface="Arial"/>
                <a:cs typeface="Arial"/>
              </a:defRPr>
            </a:pPr>
            <a:r>
              <a:rPr sz="2025" b="0">
                <a:solidFill>
                  <a:srgbClr val="1B313E"/>
                </a:solidFill>
                <a:latin typeface="Arial"/>
                <a:ea typeface="Arial"/>
                <a:cs typeface="Arial"/>
              </a:rPr>
              <a:t>Eye aspect ratio and mouth aspect ratio</a:t>
            </a:r>
          </a:p>
        </p:txBody>
      </p:sp>
      <p:sp>
        <p:nvSpPr>
          <p:cNvPr id="6" name="">
            <a:extLst xmlns:a="http://schemas.openxmlformats.org/drawingml/2006/main">
              <a:ext uri="{FF2B5EF4-FFF2-40B4-BE49-F238E27FC236}">
                <a16:creationId xmlns:a16="http://schemas.microsoft.com/office/drawing/2014/main" id="{27F93736-BB03-409F-B45F-69FE8DE8272B}"/>
              </a:ext>
            </a:extLst>
          </p:cNvPr>
          <p:cNvSpPr>
            <a:spLocks xmlns:a="http://schemas.openxmlformats.org/drawingml/2006/main" noGrp="1"/>
          </p:cNvSpPr>
          <p:nvPr/>
        </p:nvSpPr>
        <p:spPr>
          <a:xfrm xmlns:a="http://schemas.openxmlformats.org/drawingml/2006/main">
            <a:off x="571500" y="3381375"/>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6B79"/>
                </a:solidFill>
                <a:latin typeface="Arial"/>
                <a:ea typeface="Arial"/>
                <a:cs typeface="Arial"/>
              </a:defRPr>
            </a:defPPr>
          </a:lstStyle>
          <a:p xmlns:a="http://schemas.openxmlformats.org/drawingml/2006/main">
            <a:pPr>
              <a:defRPr sz="2325" b="1">
                <a:solidFill>
                  <a:srgbClr val="176B79"/>
                </a:solidFill>
                <a:latin typeface="Arial"/>
                <a:ea typeface="Arial"/>
                <a:cs typeface="Arial"/>
              </a:defRPr>
            </a:pPr>
            <a:r>
              <a:rPr sz="2325" b="1">
                <a:solidFill>
                  <a:srgbClr val="176B79"/>
                </a:solidFill>
                <a:latin typeface="Arial"/>
                <a:ea typeface="Arial"/>
                <a:cs typeface="Arial"/>
              </a:rPr>
              <a:t>Implemented component</a:t>
            </a:r>
          </a:p>
        </p:txBody>
      </p:sp>
      <p:sp>
        <p:nvSpPr>
          <p:cNvPr id="7" name="">
            <a:extLst xmlns:a="http://schemas.openxmlformats.org/drawingml/2006/main">
              <a:ext uri="{FF2B5EF4-FFF2-40B4-BE49-F238E27FC236}">
                <a16:creationId xmlns:a16="http://schemas.microsoft.com/office/drawing/2014/main" id="{521F7190-A98F-45F9-B20E-1EBE51C47E42}"/>
              </a:ext>
            </a:extLst>
          </p:cNvPr>
          <p:cNvSpPr>
            <a:spLocks xmlns:a="http://schemas.openxmlformats.org/drawingml/2006/main" noGrp="1"/>
          </p:cNvSpPr>
          <p:nvPr/>
        </p:nvSpPr>
        <p:spPr>
          <a:xfrm xmlns:a="http://schemas.openxmlformats.org/drawingml/2006/main">
            <a:off x="571500" y="3857625"/>
            <a:ext cx="4857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B313E"/>
                </a:solidFill>
                <a:latin typeface="Arial"/>
                <a:ea typeface="Arial"/>
                <a:cs typeface="Arial"/>
              </a:defRPr>
            </a:defPPr>
          </a:lstStyle>
          <a:p xmlns:a="http://schemas.openxmlformats.org/drawingml/2006/main">
            <a:pPr>
              <a:defRPr sz="2025" b="0">
                <a:solidFill>
                  <a:srgbClr val="1B313E"/>
                </a:solidFill>
                <a:latin typeface="Arial"/>
                <a:ea typeface="Arial"/>
                <a:cs typeface="Arial"/>
              </a:defRPr>
            </a:pPr>
            <a:r>
              <a:rPr sz="2025" b="0">
                <a:solidFill>
                  <a:srgbClr val="1B313E"/>
                </a:solidFill>
                <a:latin typeface="Arial"/>
                <a:ea typeface="Arial"/>
                <a:cs typeface="Arial"/>
              </a:rPr>
              <a:t>Filtering, event histories, evidence score and warning rules</a:t>
            </a:r>
          </a:p>
        </p:txBody>
      </p:sp>
      <p:sp>
        <p:nvSpPr>
          <p:cNvPr id="8" name="">
            <a:extLst xmlns:a="http://schemas.openxmlformats.org/drawingml/2006/main">
              <a:ext uri="{FF2B5EF4-FFF2-40B4-BE49-F238E27FC236}">
                <a16:creationId xmlns:a16="http://schemas.microsoft.com/office/drawing/2014/main" id="{36E70292-69AC-4BDA-B2A0-842D561661B5}"/>
              </a:ext>
            </a:extLst>
          </p:cNvPr>
          <p:cNvSpPr>
            <a:spLocks xmlns:a="http://schemas.openxmlformats.org/drawingml/2006/main" noGrp="1"/>
          </p:cNvSpPr>
          <p:nvPr/>
        </p:nvSpPr>
        <p:spPr>
          <a:xfrm xmlns:a="http://schemas.openxmlformats.org/drawingml/2006/main">
            <a:off x="571500" y="5810250"/>
            <a:ext cx="1076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36B78"/>
                </a:solidFill>
                <a:latin typeface="Arial"/>
                <a:ea typeface="Arial"/>
                <a:cs typeface="Arial"/>
              </a:defRPr>
            </a:defPPr>
          </a:lstStyle>
          <a:p xmlns:a="http://schemas.openxmlformats.org/drawingml/2006/main">
            <a:pPr>
              <a:defRPr sz="1800" b="0">
                <a:solidFill>
                  <a:srgbClr val="536B78"/>
                </a:solidFill>
                <a:latin typeface="Arial"/>
                <a:ea typeface="Arial"/>
                <a:cs typeface="Arial"/>
              </a:defRPr>
            </a:pPr>
            <a:r>
              <a:rPr sz="1800" b="0">
                <a:solidFill>
                  <a:srgbClr val="536B78"/>
                </a:solidFill>
                <a:latin typeface="Arial"/>
                <a:ea typeface="Arial"/>
                <a:cs typeface="Arial"/>
              </a:rPr>
              <a:t>Camera, landmark extraction and warning delivery require integration.</a:t>
            </a:r>
          </a:p>
        </p:txBody>
      </p:sp>
    </p:spTree>
    <p:extLst>
      <p:ext uri="{BB962C8B-B14F-4D97-AF65-F5344CB8AC3E}">
        <p14:creationId xmlns:p14="http://schemas.microsoft.com/office/powerpoint/2010/main" val="49278298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CFC4BA0-71F1-41E4-B45E-F9A588C1D0EA}"/>
              </a:ext>
            </a:extLst>
          </p:cNvPr>
          <p:cNvSpPr>
            <a:spLocks xmlns:a="http://schemas.openxmlformats.org/drawingml/2006/main" noGrp="1"/>
          </p:cNvSpPr>
          <p:nvPr/>
        </p:nvSpPr>
        <p:spPr>
          <a:xfrm xmlns:a="http://schemas.openxmlformats.org/drawingml/2006/main">
            <a:off x="571500" y="41910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4364D"/>
                </a:solidFill>
                <a:latin typeface="Arial"/>
                <a:ea typeface="Arial"/>
                <a:cs typeface="Arial"/>
              </a:defRPr>
            </a:defPPr>
          </a:lstStyle>
          <a:p xmlns:a="http://schemas.openxmlformats.org/drawingml/2006/main">
            <a:pPr>
              <a:defRPr sz="3450" b="1">
                <a:solidFill>
                  <a:srgbClr val="14364D"/>
                </a:solidFill>
                <a:latin typeface="Arial"/>
                <a:ea typeface="Arial"/>
                <a:cs typeface="Arial"/>
              </a:defRPr>
            </a:pPr>
            <a:r>
              <a:rPr sz="3450" b="1">
                <a:solidFill>
                  <a:srgbClr val="14364D"/>
                </a:solidFill>
                <a:latin typeface="Arial"/>
                <a:ea typeface="Arial"/>
                <a:cs typeface="Arial"/>
              </a:rPr>
              <a:t>Eye and mouth cues</a:t>
            </a:r>
          </a:p>
        </p:txBody>
      </p:sp>
      <p:sp>
        <p:nvSpPr>
          <p:cNvPr id="2" name="">
            <a:extLst xmlns:a="http://schemas.openxmlformats.org/drawingml/2006/main">
              <a:ext uri="{FF2B5EF4-FFF2-40B4-BE49-F238E27FC236}">
                <a16:creationId xmlns:a16="http://schemas.microsoft.com/office/drawing/2014/main" id="{6E4B596D-0F3F-4E08-8B03-25C0EDF555CF}"/>
              </a:ext>
            </a:extLst>
          </p:cNvPr>
          <p:cNvSpPr>
            <a:spLocks xmlns:a="http://schemas.openxmlformats.org/drawingml/2006/main" noGrp="1"/>
          </p:cNvSpPr>
          <p:nvPr/>
        </p:nvSpPr>
        <p:spPr>
          <a:xfrm xmlns:a="http://schemas.openxmlformats.org/drawingml/2006/main">
            <a:off x="1133475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B78"/>
                </a:solidFill>
                <a:latin typeface="Arial"/>
                <a:ea typeface="Arial"/>
                <a:cs typeface="Arial"/>
              </a:defRPr>
            </a:defPPr>
          </a:lstStyle>
          <a:p xmlns:a="http://schemas.openxmlformats.org/drawingml/2006/main">
            <a:pPr>
              <a:defRPr sz="1275" b="0">
                <a:solidFill>
                  <a:srgbClr val="536B78"/>
                </a:solidFill>
                <a:latin typeface="Arial"/>
                <a:ea typeface="Arial"/>
                <a:cs typeface="Arial"/>
              </a:defRPr>
            </a:pPr>
            <a:r>
              <a:rPr sz="1275" b="0">
                <a:solidFill>
                  <a:srgbClr val="536B78"/>
                </a:solidFill>
                <a:latin typeface="Arial"/>
                <a:ea typeface="Arial"/>
                <a:cs typeface="Arial"/>
              </a:rPr>
              <a:t>05</a:t>
            </a:r>
          </a:p>
        </p:txBody>
      </p:sp>
      <p:pic>
        <p:nvPicPr>
          <p:cNvPr id="3" name="">
            <a:extLst xmlns:a="http://schemas.openxmlformats.org/drawingml/2006/main">
              <a:ext uri="{FF2B5EF4-FFF2-40B4-BE49-F238E27FC236}">
                <a16:creationId xmlns:a16="http://schemas.microsoft.com/office/drawing/2014/main" id="{36F41AF8-56F7-4E00-86F2-00E5731E824B}"/>
              </a:ext>
            </a:extLst>
          </p:cNvPr>
          <p:cNvPicPr>
            <a:picLocks xmlns:a="http://schemas.openxmlformats.org/drawingml/2006/main" noChangeAspect="1"/>
          </p:cNvPicPr>
          <p:nvPr/>
        </p:nvPicPr>
        <p:blipFill>
          <a:blip xmlns:r="http://schemas.openxmlformats.org/officeDocument/2006/relationships" xmlns:a="http://schemas.openxmlformats.org/drawingml/2006/main" r:embed="R56a67fd97bbc4177"/>
          <a:stretch xmlns:a="http://schemas.openxmlformats.org/drawingml/2006/main"/>
        </p:blipFill>
        <p:spPr>
          <a:xfrm xmlns:a="http://schemas.openxmlformats.org/drawingml/2006/main">
            <a:off x="5429250" y="2038945"/>
            <a:ext cx="6191250" cy="2399109"/>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889E326-9B19-40B2-8C1F-C187C7DCF438}"/>
              </a:ext>
            </a:extLst>
          </p:cNvPr>
          <p:cNvSpPr>
            <a:spLocks xmlns:a="http://schemas.openxmlformats.org/drawingml/2006/main" noGrp="1"/>
          </p:cNvSpPr>
          <p:nvPr/>
        </p:nvSpPr>
        <p:spPr>
          <a:xfrm xmlns:a="http://schemas.openxmlformats.org/drawingml/2006/main">
            <a:off x="571500" y="1619250"/>
            <a:ext cx="447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6B79"/>
                </a:solidFill>
                <a:latin typeface="Arial"/>
                <a:ea typeface="Arial"/>
                <a:cs typeface="Arial"/>
              </a:defRPr>
            </a:defPPr>
          </a:lstStyle>
          <a:p xmlns:a="http://schemas.openxmlformats.org/drawingml/2006/main">
            <a:pPr>
              <a:defRPr sz="2325" b="1">
                <a:solidFill>
                  <a:srgbClr val="176B79"/>
                </a:solidFill>
                <a:latin typeface="Arial"/>
                <a:ea typeface="Arial"/>
                <a:cs typeface="Arial"/>
              </a:defRPr>
            </a:pPr>
            <a:r>
              <a:rPr sz="2325" b="1">
                <a:solidFill>
                  <a:srgbClr val="176B79"/>
                </a:solidFill>
                <a:latin typeface="Arial"/>
                <a:ea typeface="Arial"/>
                <a:cs typeface="Arial"/>
              </a:rPr>
              <a:t>Eye state</a:t>
            </a:r>
          </a:p>
        </p:txBody>
      </p:sp>
      <p:sp>
        <p:nvSpPr>
          <p:cNvPr id="5" name="">
            <a:extLst xmlns:a="http://schemas.openxmlformats.org/drawingml/2006/main">
              <a:ext uri="{FF2B5EF4-FFF2-40B4-BE49-F238E27FC236}">
                <a16:creationId xmlns:a16="http://schemas.microsoft.com/office/drawing/2014/main" id="{6D342BC5-6A98-4353-9F55-38685C9C52F3}"/>
              </a:ext>
            </a:extLst>
          </p:cNvPr>
          <p:cNvSpPr>
            <a:spLocks xmlns:a="http://schemas.openxmlformats.org/drawingml/2006/main" noGrp="1"/>
          </p:cNvSpPr>
          <p:nvPr/>
        </p:nvSpPr>
        <p:spPr>
          <a:xfrm xmlns:a="http://schemas.openxmlformats.org/drawingml/2006/main">
            <a:off x="571500" y="2095500"/>
            <a:ext cx="4476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B313E"/>
                </a:solidFill>
                <a:latin typeface="Arial"/>
                <a:ea typeface="Arial"/>
                <a:cs typeface="Arial"/>
              </a:defRPr>
            </a:defPPr>
          </a:lstStyle>
          <a:p xmlns:a="http://schemas.openxmlformats.org/drawingml/2006/main">
            <a:pPr>
              <a:defRPr sz="2025" b="0">
                <a:solidFill>
                  <a:srgbClr val="1B313E"/>
                </a:solidFill>
                <a:latin typeface="Arial"/>
                <a:ea typeface="Arial"/>
                <a:cs typeface="Arial"/>
              </a:defRPr>
            </a:pPr>
            <a:r>
              <a:rPr sz="2025" b="0">
                <a:solidFill>
                  <a:srgbClr val="1B313E"/>
                </a:solidFill>
                <a:latin typeface="Arial"/>
                <a:ea typeface="Arial"/>
                <a:cs typeface="Arial"/>
              </a:rPr>
              <a:t>Close at EAR ≤ 0.23</a:t>
            </a:r>
          </a:p>
          <a:p xmlns:a="http://schemas.openxmlformats.org/drawingml/2006/main">
            <a:pPr>
              <a:defRPr sz="2025" b="0">
                <a:solidFill>
                  <a:srgbClr val="1B313E"/>
                </a:solidFill>
                <a:latin typeface="Arial"/>
                <a:ea typeface="Arial"/>
                <a:cs typeface="Arial"/>
              </a:defRPr>
            </a:pPr>
            <a:r>
              <a:rPr sz="2025" b="0">
                <a:solidFill>
                  <a:srgbClr val="1B313E"/>
                </a:solidFill>
                <a:latin typeface="Arial"/>
                <a:ea typeface="Arial"/>
                <a:cs typeface="Arial"/>
              </a:rPr>
              <a:t>Reopen at EAR ≥ 0.27</a:t>
            </a:r>
          </a:p>
        </p:txBody>
      </p:sp>
      <p:sp>
        <p:nvSpPr>
          <p:cNvPr id="6" name="">
            <a:extLst xmlns:a="http://schemas.openxmlformats.org/drawingml/2006/main">
              <a:ext uri="{FF2B5EF4-FFF2-40B4-BE49-F238E27FC236}">
                <a16:creationId xmlns:a16="http://schemas.microsoft.com/office/drawing/2014/main" id="{9D184A5D-085E-4C00-B798-8EA1577E0452}"/>
              </a:ext>
            </a:extLst>
          </p:cNvPr>
          <p:cNvSpPr>
            <a:spLocks xmlns:a="http://schemas.openxmlformats.org/drawingml/2006/main" noGrp="1"/>
          </p:cNvSpPr>
          <p:nvPr/>
        </p:nvSpPr>
        <p:spPr>
          <a:xfrm xmlns:a="http://schemas.openxmlformats.org/drawingml/2006/main">
            <a:off x="571500" y="3619500"/>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6B79"/>
                </a:solidFill>
                <a:latin typeface="Arial"/>
                <a:ea typeface="Arial"/>
                <a:cs typeface="Arial"/>
              </a:defRPr>
            </a:defPPr>
          </a:lstStyle>
          <a:p xmlns:a="http://schemas.openxmlformats.org/drawingml/2006/main">
            <a:pPr>
              <a:defRPr sz="2325" b="1">
                <a:solidFill>
                  <a:srgbClr val="176B79"/>
                </a:solidFill>
                <a:latin typeface="Arial"/>
                <a:ea typeface="Arial"/>
                <a:cs typeface="Arial"/>
              </a:defRPr>
            </a:pPr>
            <a:r>
              <a:rPr sz="2325" b="1">
                <a:solidFill>
                  <a:srgbClr val="176B79"/>
                </a:solidFill>
                <a:latin typeface="Arial"/>
                <a:ea typeface="Arial"/>
                <a:cs typeface="Arial"/>
              </a:rPr>
              <a:t>Yawn confirmation</a:t>
            </a:r>
          </a:p>
        </p:txBody>
      </p:sp>
      <p:sp>
        <p:nvSpPr>
          <p:cNvPr id="7" name="">
            <a:extLst xmlns:a="http://schemas.openxmlformats.org/drawingml/2006/main">
              <a:ext uri="{FF2B5EF4-FFF2-40B4-BE49-F238E27FC236}">
                <a16:creationId xmlns:a16="http://schemas.microsoft.com/office/drawing/2014/main" id="{EF64B17B-D5E9-465E-9659-2A51ECED825E}"/>
              </a:ext>
            </a:extLst>
          </p:cNvPr>
          <p:cNvSpPr>
            <a:spLocks xmlns:a="http://schemas.openxmlformats.org/drawingml/2006/main" noGrp="1"/>
          </p:cNvSpPr>
          <p:nvPr/>
        </p:nvSpPr>
        <p:spPr>
          <a:xfrm xmlns:a="http://schemas.openxmlformats.org/drawingml/2006/main">
            <a:off x="571500" y="4095750"/>
            <a:ext cx="4667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B313E"/>
                </a:solidFill>
                <a:latin typeface="Arial"/>
                <a:ea typeface="Arial"/>
                <a:cs typeface="Arial"/>
              </a:defRPr>
            </a:defPPr>
          </a:lstStyle>
          <a:p xmlns:a="http://schemas.openxmlformats.org/drawingml/2006/main">
            <a:pPr>
              <a:defRPr sz="2025" b="0">
                <a:solidFill>
                  <a:srgbClr val="1B313E"/>
                </a:solidFill>
                <a:latin typeface="Arial"/>
                <a:ea typeface="Arial"/>
                <a:cs typeface="Arial"/>
              </a:defRPr>
            </a:pPr>
            <a:r>
              <a:rPr sz="2025" b="0">
                <a:solidFill>
                  <a:srgbClr val="1B313E"/>
                </a:solidFill>
                <a:latin typeface="Arial"/>
                <a:ea typeface="Arial"/>
                <a:cs typeface="Arial"/>
              </a:rPr>
              <a:t>MAR ≥ 0.42 for at least 0.65 s</a:t>
            </a:r>
          </a:p>
          <a:p xmlns:a="http://schemas.openxmlformats.org/drawingml/2006/main">
            <a:pPr>
              <a:defRPr sz="2025" b="0">
                <a:solidFill>
                  <a:srgbClr val="1B313E"/>
                </a:solidFill>
                <a:latin typeface="Arial"/>
                <a:ea typeface="Arial"/>
                <a:cs typeface="Arial"/>
              </a:defRPr>
            </a:pPr>
            <a:r>
              <a:rPr sz="2025" b="0">
                <a:solidFill>
                  <a:srgbClr val="1B313E"/>
                </a:solidFill>
                <a:latin typeface="Arial"/>
                <a:ea typeface="Arial"/>
                <a:cs typeface="Arial"/>
              </a:rPr>
              <a:t>End at MAR ≤ 0.28</a:t>
            </a:r>
          </a:p>
        </p:txBody>
      </p:sp>
      <p:sp>
        <p:nvSpPr>
          <p:cNvPr id="8" name="">
            <a:extLst xmlns:a="http://schemas.openxmlformats.org/drawingml/2006/main">
              <a:ext uri="{FF2B5EF4-FFF2-40B4-BE49-F238E27FC236}">
                <a16:creationId xmlns:a16="http://schemas.microsoft.com/office/drawing/2014/main" id="{8FF5CB46-C797-4545-9C82-7575290E9A34}"/>
              </a:ext>
            </a:extLst>
          </p:cNvPr>
          <p:cNvSpPr>
            <a:spLocks xmlns:a="http://schemas.openxmlformats.org/drawingml/2006/main" noGrp="1"/>
          </p:cNvSpPr>
          <p:nvPr/>
        </p:nvSpPr>
        <p:spPr>
          <a:xfrm xmlns:a="http://schemas.openxmlformats.org/drawingml/2006/main">
            <a:off x="5429250" y="5248275"/>
            <a:ext cx="619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4364D"/>
                </a:solidFill>
                <a:latin typeface="Arial"/>
                <a:ea typeface="Arial"/>
                <a:cs typeface="Arial"/>
              </a:defRPr>
            </a:defPPr>
          </a:lstStyle>
          <a:p xmlns:a="http://schemas.openxmlformats.org/drawingml/2006/main">
            <a:pPr>
              <a:defRPr sz="2100" b="1">
                <a:solidFill>
                  <a:srgbClr val="14364D"/>
                </a:solidFill>
                <a:latin typeface="Arial"/>
                <a:ea typeface="Arial"/>
                <a:cs typeface="Arial"/>
              </a:defRPr>
            </a:pPr>
            <a:r>
              <a:rPr sz="2100" b="1">
                <a:solidFill>
                  <a:srgbClr val="14364D"/>
                </a:solidFill>
                <a:latin typeface="Arial"/>
                <a:ea typeface="Arial"/>
                <a:cs typeface="Arial"/>
              </a:rPr>
              <a:t>Median filtering uses up to seven recent observations.</a:t>
            </a:r>
          </a:p>
        </p:txBody>
      </p:sp>
    </p:spTree>
    <p:extLst>
      <p:ext uri="{BB962C8B-B14F-4D97-AF65-F5344CB8AC3E}">
        <p14:creationId xmlns:p14="http://schemas.microsoft.com/office/powerpoint/2010/main" val="97645733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17E0C86-534B-4091-B053-6B5E90E7F34E}"/>
              </a:ext>
            </a:extLst>
          </p:cNvPr>
          <p:cNvSpPr>
            <a:spLocks xmlns:a="http://schemas.openxmlformats.org/drawingml/2006/main" noGrp="1"/>
          </p:cNvSpPr>
          <p:nvPr/>
        </p:nvSpPr>
        <p:spPr>
          <a:xfrm xmlns:a="http://schemas.openxmlformats.org/drawingml/2006/main">
            <a:off x="571500" y="41910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4364D"/>
                </a:solidFill>
                <a:latin typeface="Arial"/>
                <a:ea typeface="Arial"/>
                <a:cs typeface="Arial"/>
              </a:defRPr>
            </a:defPPr>
          </a:lstStyle>
          <a:p xmlns:a="http://schemas.openxmlformats.org/drawingml/2006/main">
            <a:pPr>
              <a:defRPr sz="3450" b="1">
                <a:solidFill>
                  <a:srgbClr val="14364D"/>
                </a:solidFill>
                <a:latin typeface="Arial"/>
                <a:ea typeface="Arial"/>
                <a:cs typeface="Arial"/>
              </a:defRPr>
            </a:pPr>
            <a:r>
              <a:rPr sz="3450" b="1">
                <a:solidFill>
                  <a:srgbClr val="14364D"/>
                </a:solidFill>
                <a:latin typeface="Arial"/>
                <a:ea typeface="Arial"/>
                <a:cs typeface="Arial"/>
              </a:rPr>
              <a:t>Warning policy</a:t>
            </a:r>
          </a:p>
        </p:txBody>
      </p:sp>
      <p:sp>
        <p:nvSpPr>
          <p:cNvPr id="2" name="">
            <a:extLst xmlns:a="http://schemas.openxmlformats.org/drawingml/2006/main">
              <a:ext uri="{FF2B5EF4-FFF2-40B4-BE49-F238E27FC236}">
                <a16:creationId xmlns:a16="http://schemas.microsoft.com/office/drawing/2014/main" id="{AB25F36B-25FE-4C9C-A226-A3FB596E3DEE}"/>
              </a:ext>
            </a:extLst>
          </p:cNvPr>
          <p:cNvSpPr>
            <a:spLocks xmlns:a="http://schemas.openxmlformats.org/drawingml/2006/main" noGrp="1"/>
          </p:cNvSpPr>
          <p:nvPr/>
        </p:nvSpPr>
        <p:spPr>
          <a:xfrm xmlns:a="http://schemas.openxmlformats.org/drawingml/2006/main">
            <a:off x="1133475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B78"/>
                </a:solidFill>
                <a:latin typeface="Arial"/>
                <a:ea typeface="Arial"/>
                <a:cs typeface="Arial"/>
              </a:defRPr>
            </a:defPPr>
          </a:lstStyle>
          <a:p xmlns:a="http://schemas.openxmlformats.org/drawingml/2006/main">
            <a:pPr>
              <a:defRPr sz="1275" b="0">
                <a:solidFill>
                  <a:srgbClr val="536B78"/>
                </a:solidFill>
                <a:latin typeface="Arial"/>
                <a:ea typeface="Arial"/>
                <a:cs typeface="Arial"/>
              </a:defRPr>
            </a:pPr>
            <a:r>
              <a:rPr sz="1275" b="0">
                <a:solidFill>
                  <a:srgbClr val="536B78"/>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FEF1562D-AC7C-4268-950C-CEFF4872F7EC}"/>
              </a:ext>
            </a:extLst>
          </p:cNvPr>
          <p:cNvSpPr>
            <a:spLocks xmlns:a="http://schemas.openxmlformats.org/drawingml/2006/main" noGrp="1"/>
          </p:cNvSpPr>
          <p:nvPr/>
        </p:nvSpPr>
        <p:spPr>
          <a:xfrm xmlns:a="http://schemas.openxmlformats.org/drawingml/2006/main">
            <a:off x="571500" y="1476375"/>
            <a:ext cx="276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176B79"/>
                </a:solidFill>
                <a:latin typeface="Arial"/>
                <a:ea typeface="Arial"/>
                <a:cs typeface="Arial"/>
              </a:defRPr>
            </a:defPPr>
          </a:lstStyle>
          <a:p xmlns:a="http://schemas.openxmlformats.org/drawingml/2006/main">
            <a:pPr>
              <a:defRPr sz="2625" b="1">
                <a:solidFill>
                  <a:srgbClr val="176B79"/>
                </a:solidFill>
                <a:latin typeface="Arial"/>
                <a:ea typeface="Arial"/>
                <a:cs typeface="Arial"/>
              </a:defRPr>
            </a:pPr>
            <a:r>
              <a:rPr sz="2625" b="1">
                <a:solidFill>
                  <a:srgbClr val="176B79"/>
                </a:solidFill>
                <a:latin typeface="Arial"/>
                <a:ea typeface="Arial"/>
                <a:cs typeface="Arial"/>
              </a:rPr>
              <a:t>ALERT</a:t>
            </a:r>
          </a:p>
        </p:txBody>
      </p:sp>
      <p:sp>
        <p:nvSpPr>
          <p:cNvPr id="4" name="">
            <a:extLst xmlns:a="http://schemas.openxmlformats.org/drawingml/2006/main">
              <a:ext uri="{FF2B5EF4-FFF2-40B4-BE49-F238E27FC236}">
                <a16:creationId xmlns:a16="http://schemas.microsoft.com/office/drawing/2014/main" id="{58895DE7-4DA9-4797-9B1B-4F28AE774FB8}"/>
              </a:ext>
            </a:extLst>
          </p:cNvPr>
          <p:cNvSpPr>
            <a:spLocks xmlns:a="http://schemas.openxmlformats.org/drawingml/2006/main" noGrp="1"/>
          </p:cNvSpPr>
          <p:nvPr/>
        </p:nvSpPr>
        <p:spPr>
          <a:xfrm xmlns:a="http://schemas.openxmlformats.org/drawingml/2006/main">
            <a:off x="3714750" y="1476375"/>
            <a:ext cx="7715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B313E"/>
                </a:solidFill>
                <a:latin typeface="Arial"/>
                <a:ea typeface="Arial"/>
                <a:cs typeface="Arial"/>
              </a:defRPr>
            </a:defPPr>
          </a:lstStyle>
          <a:p xmlns:a="http://schemas.openxmlformats.org/drawingml/2006/main">
            <a:pPr>
              <a:defRPr sz="2100" b="0">
                <a:solidFill>
                  <a:srgbClr val="1B313E"/>
                </a:solidFill>
                <a:latin typeface="Arial"/>
                <a:ea typeface="Arial"/>
                <a:cs typeface="Arial"/>
              </a:defRPr>
            </a:pPr>
            <a:r>
              <a:rPr sz="2100" b="0">
                <a:solidFill>
                  <a:srgbClr val="1B313E"/>
                </a:solidFill>
                <a:latin typeface="Arial"/>
                <a:ea typeface="Arial"/>
                <a:cs typeface="Arial"/>
              </a:rPr>
              <a:t>No higher warning rule applies</a:t>
            </a:r>
          </a:p>
        </p:txBody>
      </p:sp>
      <p:sp>
        <p:nvSpPr>
          <p:cNvPr id="5" name="">
            <a:extLst xmlns:a="http://schemas.openxmlformats.org/drawingml/2006/main">
              <a:ext uri="{FF2B5EF4-FFF2-40B4-BE49-F238E27FC236}">
                <a16:creationId xmlns:a16="http://schemas.microsoft.com/office/drawing/2014/main" id="{148CE94D-1B41-41EC-BF42-42AC0EEDE4FC}"/>
              </a:ext>
            </a:extLst>
          </p:cNvPr>
          <p:cNvSpPr>
            <a:spLocks xmlns:a="http://schemas.openxmlformats.org/drawingml/2006/main" noGrp="1"/>
          </p:cNvSpPr>
          <p:nvPr/>
        </p:nvSpPr>
        <p:spPr>
          <a:xfrm xmlns:a="http://schemas.openxmlformats.org/drawingml/2006/main">
            <a:off x="571500" y="2524125"/>
            <a:ext cx="276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176B79"/>
                </a:solidFill>
                <a:latin typeface="Arial"/>
                <a:ea typeface="Arial"/>
                <a:cs typeface="Arial"/>
              </a:defRPr>
            </a:defPPr>
          </a:lstStyle>
          <a:p xmlns:a="http://schemas.openxmlformats.org/drawingml/2006/main">
            <a:pPr>
              <a:defRPr sz="2625" b="1">
                <a:solidFill>
                  <a:srgbClr val="176B79"/>
                </a:solidFill>
                <a:latin typeface="Arial"/>
                <a:ea typeface="Arial"/>
                <a:cs typeface="Arial"/>
              </a:defRPr>
            </a:pPr>
            <a:r>
              <a:rPr sz="2625" b="1">
                <a:solidFill>
                  <a:srgbClr val="176B79"/>
                </a:solidFill>
                <a:latin typeface="Arial"/>
                <a:ea typeface="Arial"/>
                <a:cs typeface="Arial"/>
              </a:rPr>
              <a:t>FATIGUED</a:t>
            </a:r>
          </a:p>
        </p:txBody>
      </p:sp>
      <p:sp>
        <p:nvSpPr>
          <p:cNvPr id="6" name="">
            <a:extLst xmlns:a="http://schemas.openxmlformats.org/drawingml/2006/main">
              <a:ext uri="{FF2B5EF4-FFF2-40B4-BE49-F238E27FC236}">
                <a16:creationId xmlns:a16="http://schemas.microsoft.com/office/drawing/2014/main" id="{29611D79-8447-437D-8BA5-F9B488E4DFB7}"/>
              </a:ext>
            </a:extLst>
          </p:cNvPr>
          <p:cNvSpPr>
            <a:spLocks xmlns:a="http://schemas.openxmlformats.org/drawingml/2006/main" noGrp="1"/>
          </p:cNvSpPr>
          <p:nvPr/>
        </p:nvSpPr>
        <p:spPr>
          <a:xfrm xmlns:a="http://schemas.openxmlformats.org/drawingml/2006/main">
            <a:off x="3714750" y="2524125"/>
            <a:ext cx="7715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B313E"/>
                </a:solidFill>
                <a:latin typeface="Arial"/>
                <a:ea typeface="Arial"/>
                <a:cs typeface="Arial"/>
              </a:defRPr>
            </a:defPPr>
          </a:lstStyle>
          <a:p xmlns:a="http://schemas.openxmlformats.org/drawingml/2006/main">
            <a:pPr>
              <a:defRPr sz="2100" b="0">
                <a:solidFill>
                  <a:srgbClr val="1B313E"/>
                </a:solidFill>
                <a:latin typeface="Arial"/>
                <a:ea typeface="Arial"/>
                <a:cs typeface="Arial"/>
              </a:defRPr>
            </a:pPr>
            <a:r>
              <a:rPr sz="2100" b="0">
                <a:solidFill>
                  <a:srgbClr val="1B313E"/>
                </a:solidFill>
                <a:latin typeface="Arial"/>
                <a:ea typeface="Arial"/>
                <a:cs typeface="Arial"/>
              </a:rPr>
              <a:t>At least two recent yawns or score ≥ 30, when higher rules do not apply</a:t>
            </a:r>
          </a:p>
        </p:txBody>
      </p:sp>
      <p:sp>
        <p:nvSpPr>
          <p:cNvPr id="7" name="">
            <a:extLst xmlns:a="http://schemas.openxmlformats.org/drawingml/2006/main">
              <a:ext uri="{FF2B5EF4-FFF2-40B4-BE49-F238E27FC236}">
                <a16:creationId xmlns:a16="http://schemas.microsoft.com/office/drawing/2014/main" id="{A7A14DBC-7770-47CD-86E2-8985FC3B101B}"/>
              </a:ext>
            </a:extLst>
          </p:cNvPr>
          <p:cNvSpPr>
            <a:spLocks xmlns:a="http://schemas.openxmlformats.org/drawingml/2006/main" noGrp="1"/>
          </p:cNvSpPr>
          <p:nvPr/>
        </p:nvSpPr>
        <p:spPr>
          <a:xfrm xmlns:a="http://schemas.openxmlformats.org/drawingml/2006/main">
            <a:off x="571500" y="3571875"/>
            <a:ext cx="276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98611C"/>
                </a:solidFill>
                <a:latin typeface="Arial"/>
                <a:ea typeface="Arial"/>
                <a:cs typeface="Arial"/>
              </a:defRPr>
            </a:defPPr>
          </a:lstStyle>
          <a:p xmlns:a="http://schemas.openxmlformats.org/drawingml/2006/main">
            <a:pPr>
              <a:defRPr sz="2625" b="1">
                <a:solidFill>
                  <a:srgbClr val="98611C"/>
                </a:solidFill>
                <a:latin typeface="Arial"/>
                <a:ea typeface="Arial"/>
                <a:cs typeface="Arial"/>
              </a:defRPr>
            </a:pPr>
            <a:r>
              <a:rPr sz="2625" b="1">
                <a:solidFill>
                  <a:srgbClr val="98611C"/>
                </a:solidFill>
                <a:latin typeface="Arial"/>
                <a:ea typeface="Arial"/>
                <a:cs typeface="Arial"/>
              </a:rPr>
              <a:t>DROWSY</a:t>
            </a:r>
          </a:p>
        </p:txBody>
      </p:sp>
      <p:sp>
        <p:nvSpPr>
          <p:cNvPr id="8" name="">
            <a:extLst xmlns:a="http://schemas.openxmlformats.org/drawingml/2006/main">
              <a:ext uri="{FF2B5EF4-FFF2-40B4-BE49-F238E27FC236}">
                <a16:creationId xmlns:a16="http://schemas.microsoft.com/office/drawing/2014/main" id="{CF99F9BC-C793-472F-97DE-4070DA63920C}"/>
              </a:ext>
            </a:extLst>
          </p:cNvPr>
          <p:cNvSpPr>
            <a:spLocks xmlns:a="http://schemas.openxmlformats.org/drawingml/2006/main" noGrp="1"/>
          </p:cNvSpPr>
          <p:nvPr/>
        </p:nvSpPr>
        <p:spPr>
          <a:xfrm xmlns:a="http://schemas.openxmlformats.org/drawingml/2006/main">
            <a:off x="3714750" y="3571875"/>
            <a:ext cx="7715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B313E"/>
                </a:solidFill>
                <a:latin typeface="Arial"/>
                <a:ea typeface="Arial"/>
                <a:cs typeface="Arial"/>
              </a:defRPr>
            </a:defPPr>
          </a:lstStyle>
          <a:p xmlns:a="http://schemas.openxmlformats.org/drawingml/2006/main">
            <a:pPr>
              <a:defRPr sz="2100" b="0">
                <a:solidFill>
                  <a:srgbClr val="1B313E"/>
                </a:solidFill>
                <a:latin typeface="Arial"/>
                <a:ea typeface="Arial"/>
                <a:cs typeface="Arial"/>
              </a:defRPr>
            </a:pPr>
            <a:r>
              <a:rPr sz="2100" b="0">
                <a:solidFill>
                  <a:srgbClr val="1B313E"/>
                </a:solidFill>
                <a:latin typeface="Arial"/>
                <a:ea typeface="Arial"/>
                <a:cs typeface="Arial"/>
              </a:rPr>
              <a:t>Closure ≥ 1.5 s, or another drowsy rule</a:t>
            </a:r>
          </a:p>
        </p:txBody>
      </p:sp>
      <p:sp>
        <p:nvSpPr>
          <p:cNvPr id="9" name="">
            <a:extLst xmlns:a="http://schemas.openxmlformats.org/drawingml/2006/main">
              <a:ext uri="{FF2B5EF4-FFF2-40B4-BE49-F238E27FC236}">
                <a16:creationId xmlns:a16="http://schemas.microsoft.com/office/drawing/2014/main" id="{FFA4AF79-A520-4D57-AE52-EEDD30892E46}"/>
              </a:ext>
            </a:extLst>
          </p:cNvPr>
          <p:cNvSpPr>
            <a:spLocks xmlns:a="http://schemas.openxmlformats.org/drawingml/2006/main" noGrp="1"/>
          </p:cNvSpPr>
          <p:nvPr/>
        </p:nvSpPr>
        <p:spPr>
          <a:xfrm xmlns:a="http://schemas.openxmlformats.org/drawingml/2006/main">
            <a:off x="571500" y="4619625"/>
            <a:ext cx="276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B54438"/>
                </a:solidFill>
                <a:latin typeface="Arial"/>
                <a:ea typeface="Arial"/>
                <a:cs typeface="Arial"/>
              </a:defRPr>
            </a:defPPr>
          </a:lstStyle>
          <a:p xmlns:a="http://schemas.openxmlformats.org/drawingml/2006/main">
            <a:pPr>
              <a:defRPr sz="2625" b="1">
                <a:solidFill>
                  <a:srgbClr val="B54438"/>
                </a:solidFill>
                <a:latin typeface="Arial"/>
                <a:ea typeface="Arial"/>
                <a:cs typeface="Arial"/>
              </a:defRPr>
            </a:pPr>
            <a:r>
              <a:rPr sz="2625" b="1">
                <a:solidFill>
                  <a:srgbClr val="B54438"/>
                </a:solidFill>
                <a:latin typeface="Arial"/>
                <a:ea typeface="Arial"/>
                <a:cs typeface="Arial"/>
              </a:rPr>
              <a:t>CRITICAL</a:t>
            </a:r>
          </a:p>
        </p:txBody>
      </p:sp>
      <p:sp>
        <p:nvSpPr>
          <p:cNvPr id="10" name="">
            <a:extLst xmlns:a="http://schemas.openxmlformats.org/drawingml/2006/main">
              <a:ext uri="{FF2B5EF4-FFF2-40B4-BE49-F238E27FC236}">
                <a16:creationId xmlns:a16="http://schemas.microsoft.com/office/drawing/2014/main" id="{616E4098-DD67-4FC9-85DA-F68CBBCFEB7B}"/>
              </a:ext>
            </a:extLst>
          </p:cNvPr>
          <p:cNvSpPr>
            <a:spLocks xmlns:a="http://schemas.openxmlformats.org/drawingml/2006/main" noGrp="1"/>
          </p:cNvSpPr>
          <p:nvPr/>
        </p:nvSpPr>
        <p:spPr>
          <a:xfrm xmlns:a="http://schemas.openxmlformats.org/drawingml/2006/main">
            <a:off x="3714750" y="4619625"/>
            <a:ext cx="7715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B313E"/>
                </a:solidFill>
                <a:latin typeface="Arial"/>
                <a:ea typeface="Arial"/>
                <a:cs typeface="Arial"/>
              </a:defRPr>
            </a:defPPr>
          </a:lstStyle>
          <a:p xmlns:a="http://schemas.openxmlformats.org/drawingml/2006/main">
            <a:pPr>
              <a:defRPr sz="2100" b="0">
                <a:solidFill>
                  <a:srgbClr val="1B313E"/>
                </a:solidFill>
                <a:latin typeface="Arial"/>
                <a:ea typeface="Arial"/>
                <a:cs typeface="Arial"/>
              </a:defRPr>
            </a:pPr>
            <a:r>
              <a:rPr sz="2100" b="0">
                <a:solidFill>
                  <a:srgbClr val="1B313E"/>
                </a:solidFill>
                <a:latin typeface="Arial"/>
                <a:ea typeface="Arial"/>
                <a:cs typeface="Arial"/>
              </a:rPr>
              <a:t>Closure ≥ 3.0 s, or closure ≥ 2.0 s with at least two recent yawns</a:t>
            </a:r>
          </a:p>
        </p:txBody>
      </p:sp>
      <p:sp>
        <p:nvSpPr>
          <p:cNvPr id="11" name="">
            <a:extLst xmlns:a="http://schemas.openxmlformats.org/drawingml/2006/main">
              <a:ext uri="{FF2B5EF4-FFF2-40B4-BE49-F238E27FC236}">
                <a16:creationId xmlns:a16="http://schemas.microsoft.com/office/drawing/2014/main" id="{FA719B91-4BD1-494A-9AD0-519B4C892A91}"/>
              </a:ext>
            </a:extLst>
          </p:cNvPr>
          <p:cNvSpPr>
            <a:spLocks xmlns:a="http://schemas.openxmlformats.org/drawingml/2006/main" noGrp="1"/>
          </p:cNvSpPr>
          <p:nvPr/>
        </p:nvSpPr>
        <p:spPr>
          <a:xfrm xmlns:a="http://schemas.openxmlformats.org/drawingml/2006/main">
            <a:off x="571500" y="588645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36B78"/>
                </a:solidFill>
                <a:latin typeface="Arial"/>
                <a:ea typeface="Arial"/>
                <a:cs typeface="Arial"/>
              </a:defRPr>
            </a:defPPr>
          </a:lstStyle>
          <a:p xmlns:a="http://schemas.openxmlformats.org/drawingml/2006/main">
            <a:pPr>
              <a:defRPr sz="1950" b="0">
                <a:solidFill>
                  <a:srgbClr val="536B78"/>
                </a:solidFill>
                <a:latin typeface="Arial"/>
                <a:ea typeface="Arial"/>
                <a:cs typeface="Arial"/>
              </a:defRPr>
            </a:pPr>
            <a:r>
              <a:rPr sz="1950" b="0">
                <a:solidFill>
                  <a:srgbClr val="536B78"/>
                </a:solidFill>
                <a:latin typeface="Arial"/>
                <a:ea typeface="Arial"/>
                <a:cs typeface="Arial"/>
              </a:rPr>
              <a:t>A smoothed 0-100 evidence score supports the policy.</a:t>
            </a:r>
          </a:p>
        </p:txBody>
      </p:sp>
    </p:spTree>
    <p:extLst>
      <p:ext uri="{BB962C8B-B14F-4D97-AF65-F5344CB8AC3E}">
        <p14:creationId xmlns:p14="http://schemas.microsoft.com/office/powerpoint/2010/main" val="2403207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3F1282F-2144-4766-8DBE-AFECABE374D4}"/>
              </a:ext>
            </a:extLst>
          </p:cNvPr>
          <p:cNvSpPr>
            <a:spLocks xmlns:a="http://schemas.openxmlformats.org/drawingml/2006/main" noGrp="1"/>
          </p:cNvSpPr>
          <p:nvPr/>
        </p:nvSpPr>
        <p:spPr>
          <a:xfrm xmlns:a="http://schemas.openxmlformats.org/drawingml/2006/main">
            <a:off x="571500" y="41910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4364D"/>
                </a:solidFill>
                <a:latin typeface="Arial"/>
                <a:ea typeface="Arial"/>
                <a:cs typeface="Arial"/>
              </a:defRPr>
            </a:defPPr>
          </a:lstStyle>
          <a:p xmlns:a="http://schemas.openxmlformats.org/drawingml/2006/main">
            <a:pPr>
              <a:defRPr sz="3450" b="1">
                <a:solidFill>
                  <a:srgbClr val="14364D"/>
                </a:solidFill>
                <a:latin typeface="Arial"/>
                <a:ea typeface="Arial"/>
                <a:cs typeface="Arial"/>
              </a:defRPr>
            </a:pPr>
            <a:r>
              <a:rPr sz="3450" b="1">
                <a:solidFill>
                  <a:srgbClr val="14364D"/>
                </a:solidFill>
                <a:latin typeface="Arial"/>
                <a:ea typeface="Arial"/>
                <a:cs typeface="Arial"/>
              </a:rPr>
              <a:t>Functional verification</a:t>
            </a:r>
          </a:p>
        </p:txBody>
      </p:sp>
      <p:sp>
        <p:nvSpPr>
          <p:cNvPr id="2" name="">
            <a:extLst xmlns:a="http://schemas.openxmlformats.org/drawingml/2006/main">
              <a:ext uri="{FF2B5EF4-FFF2-40B4-BE49-F238E27FC236}">
                <a16:creationId xmlns:a16="http://schemas.microsoft.com/office/drawing/2014/main" id="{85F0A0C7-8846-47A1-887F-6B9E429DFAE8}"/>
              </a:ext>
            </a:extLst>
          </p:cNvPr>
          <p:cNvSpPr>
            <a:spLocks xmlns:a="http://schemas.openxmlformats.org/drawingml/2006/main" noGrp="1"/>
          </p:cNvSpPr>
          <p:nvPr/>
        </p:nvSpPr>
        <p:spPr>
          <a:xfrm xmlns:a="http://schemas.openxmlformats.org/drawingml/2006/main">
            <a:off x="1133475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B78"/>
                </a:solidFill>
                <a:latin typeface="Arial"/>
                <a:ea typeface="Arial"/>
                <a:cs typeface="Arial"/>
              </a:defRPr>
            </a:defPPr>
          </a:lstStyle>
          <a:p xmlns:a="http://schemas.openxmlformats.org/drawingml/2006/main">
            <a:pPr>
              <a:defRPr sz="1275" b="0">
                <a:solidFill>
                  <a:srgbClr val="536B78"/>
                </a:solidFill>
                <a:latin typeface="Arial"/>
                <a:ea typeface="Arial"/>
                <a:cs typeface="Arial"/>
              </a:defRPr>
            </a:pPr>
            <a:r>
              <a:rPr sz="1275" b="0">
                <a:solidFill>
                  <a:srgbClr val="536B78"/>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77AAE9E9-61E3-48E4-80AA-C0F788B6FF7B}"/>
              </a:ext>
            </a:extLst>
          </p:cNvPr>
          <p:cNvSpPr>
            <a:spLocks xmlns:a="http://schemas.openxmlformats.org/drawingml/2006/main" noGrp="1"/>
          </p:cNvSpPr>
          <p:nvPr/>
        </p:nvSpPr>
        <p:spPr>
          <a:xfrm xmlns:a="http://schemas.openxmlformats.org/drawingml/2006/main">
            <a:off x="571500" y="1647825"/>
            <a:ext cx="4476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450" b="1">
                <a:solidFill>
                  <a:srgbClr val="176B79"/>
                </a:solidFill>
                <a:latin typeface="Arial"/>
                <a:ea typeface="Arial"/>
                <a:cs typeface="Arial"/>
              </a:defRPr>
            </a:defPPr>
          </a:lstStyle>
          <a:p xmlns:a="http://schemas.openxmlformats.org/drawingml/2006/main">
            <a:pPr>
              <a:defRPr sz="6450" b="1">
                <a:solidFill>
                  <a:srgbClr val="176B79"/>
                </a:solidFill>
                <a:latin typeface="Arial"/>
                <a:ea typeface="Arial"/>
                <a:cs typeface="Arial"/>
              </a:defRPr>
            </a:pPr>
            <a:r>
              <a:rPr sz="6450" b="1">
                <a:solidFill>
                  <a:srgbClr val="176B79"/>
                </a:solidFill>
                <a:latin typeface="Arial"/>
                <a:ea typeface="Arial"/>
                <a:cs typeface="Arial"/>
              </a:rPr>
              <a:t>8 of 8</a:t>
            </a:r>
          </a:p>
        </p:txBody>
      </p:sp>
      <p:sp>
        <p:nvSpPr>
          <p:cNvPr id="4" name="">
            <a:extLst xmlns:a="http://schemas.openxmlformats.org/drawingml/2006/main">
              <a:ext uri="{FF2B5EF4-FFF2-40B4-BE49-F238E27FC236}">
                <a16:creationId xmlns:a16="http://schemas.microsoft.com/office/drawing/2014/main" id="{F9D40681-D114-4B11-99BB-638D8534A816}"/>
              </a:ext>
            </a:extLst>
          </p:cNvPr>
          <p:cNvSpPr>
            <a:spLocks xmlns:a="http://schemas.openxmlformats.org/drawingml/2006/main" noGrp="1"/>
          </p:cNvSpPr>
          <p:nvPr/>
        </p:nvSpPr>
        <p:spPr>
          <a:xfrm xmlns:a="http://schemas.openxmlformats.org/drawingml/2006/main">
            <a:off x="571500" y="287655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4364D"/>
                </a:solidFill>
                <a:latin typeface="Arial"/>
                <a:ea typeface="Arial"/>
                <a:cs typeface="Arial"/>
              </a:defRPr>
            </a:defPPr>
          </a:lstStyle>
          <a:p xmlns:a="http://schemas.openxmlformats.org/drawingml/2006/main">
            <a:pPr>
              <a:defRPr sz="2250" b="1">
                <a:solidFill>
                  <a:srgbClr val="14364D"/>
                </a:solidFill>
                <a:latin typeface="Arial"/>
                <a:ea typeface="Arial"/>
                <a:cs typeface="Arial"/>
              </a:defRPr>
            </a:pPr>
            <a:r>
              <a:rPr sz="2250" b="1">
                <a:solidFill>
                  <a:srgbClr val="14364D"/>
                </a:solidFill>
                <a:latin typeface="Arial"/>
                <a:ea typeface="Arial"/>
                <a:cs typeface="Arial"/>
              </a:rPr>
              <a:t>synthetic scenarios passed</a:t>
            </a:r>
          </a:p>
          <a:p xmlns:a="http://schemas.openxmlformats.org/drawingml/2006/main">
            <a:pPr>
              <a:defRPr sz="2250" b="1">
                <a:solidFill>
                  <a:srgbClr val="14364D"/>
                </a:solidFill>
                <a:latin typeface="Arial"/>
                <a:ea typeface="Arial"/>
                <a:cs typeface="Arial"/>
              </a:defRPr>
            </a:pPr>
            <a:r>
              <a:rPr sz="2250" b="1">
                <a:solidFill>
                  <a:srgbClr val="14364D"/>
                </a:solidFill>
                <a:latin typeface="Arial"/>
                <a:ea typeface="Arial"/>
                <a:cs typeface="Arial"/>
              </a:rPr>
              <a:t>their specified assertions</a:t>
            </a:r>
          </a:p>
        </p:txBody>
      </p:sp>
      <p:sp>
        <p:nvSpPr>
          <p:cNvPr id="5" name="">
            <a:extLst xmlns:a="http://schemas.openxmlformats.org/drawingml/2006/main">
              <a:ext uri="{FF2B5EF4-FFF2-40B4-BE49-F238E27FC236}">
                <a16:creationId xmlns:a16="http://schemas.microsoft.com/office/drawing/2014/main" id="{A091DBB3-F8F9-4054-8C58-B47B9E12EA1B}"/>
              </a:ext>
            </a:extLst>
          </p:cNvPr>
          <p:cNvSpPr>
            <a:spLocks xmlns:a="http://schemas.openxmlformats.org/drawingml/2006/main" noGrp="1"/>
          </p:cNvSpPr>
          <p:nvPr/>
        </p:nvSpPr>
        <p:spPr>
          <a:xfrm xmlns:a="http://schemas.openxmlformats.org/drawingml/2006/main">
            <a:off x="571500" y="4276725"/>
            <a:ext cx="4476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B313E"/>
                </a:solidFill>
                <a:latin typeface="Arial"/>
                <a:ea typeface="Arial"/>
                <a:cs typeface="Arial"/>
              </a:defRPr>
            </a:defPPr>
          </a:lstStyle>
          <a:p xmlns:a="http://schemas.openxmlformats.org/drawingml/2006/main">
            <a:pPr>
              <a:defRPr sz="2175" b="0">
                <a:solidFill>
                  <a:srgbClr val="1B313E"/>
                </a:solidFill>
                <a:latin typeface="Arial"/>
                <a:ea typeface="Arial"/>
                <a:cs typeface="Arial"/>
              </a:defRPr>
            </a:pPr>
            <a:r>
              <a:rPr sz="2175" b="0">
                <a:solidFill>
                  <a:srgbClr val="1B313E"/>
                </a:solidFill>
                <a:latin typeface="Arial"/>
                <a:ea typeface="Arial"/>
                <a:cs typeface="Arial"/>
              </a:rPr>
              <a:t>Controlled clock</a:t>
            </a:r>
          </a:p>
          <a:p xmlns:a="http://schemas.openxmlformats.org/drawingml/2006/main">
            <a:pPr>
              <a:defRPr sz="2175" b="0">
                <a:solidFill>
                  <a:srgbClr val="1B313E"/>
                </a:solidFill>
                <a:latin typeface="Arial"/>
                <a:ea typeface="Arial"/>
                <a:cs typeface="Arial"/>
              </a:defRPr>
            </a:pPr>
            <a:r>
              <a:rPr sz="2175" b="0">
                <a:solidFill>
                  <a:srgbClr val="1B313E"/>
                </a:solidFill>
                <a:latin typeface="Arial"/>
                <a:ea typeface="Arial"/>
                <a:cs typeface="Arial"/>
              </a:rPr>
              <a:t>20 updates per second</a:t>
            </a:r>
          </a:p>
        </p:txBody>
      </p:sp>
      <p:pic>
        <p:nvPicPr>
          <p:cNvPr id="6" name="">
            <a:extLst xmlns:a="http://schemas.openxmlformats.org/drawingml/2006/main">
              <a:ext uri="{FF2B5EF4-FFF2-40B4-BE49-F238E27FC236}">
                <a16:creationId xmlns:a16="http://schemas.microsoft.com/office/drawing/2014/main" id="{2EC415DC-A09D-4824-8595-4EA5C748A853}"/>
              </a:ext>
            </a:extLst>
          </p:cNvPr>
          <p:cNvPicPr>
            <a:picLocks xmlns:a="http://schemas.openxmlformats.org/drawingml/2006/main" noChangeAspect="1"/>
          </p:cNvPicPr>
          <p:nvPr/>
        </p:nvPicPr>
        <p:blipFill>
          <a:blip xmlns:r="http://schemas.openxmlformats.org/officeDocument/2006/relationships" xmlns:a="http://schemas.openxmlformats.org/drawingml/2006/main" r:embed="R4ac8d1ba439e420a"/>
          <a:stretch xmlns:a="http://schemas.openxmlformats.org/drawingml/2006/main"/>
        </p:blipFill>
        <p:spPr>
          <a:xfrm xmlns:a="http://schemas.openxmlformats.org/drawingml/2006/main">
            <a:off x="5548690" y="1238250"/>
            <a:ext cx="6047619" cy="47625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33F030D-322C-40F9-ACA0-C6564FF1BFED}"/>
              </a:ext>
            </a:extLst>
          </p:cNvPr>
          <p:cNvSpPr>
            <a:spLocks xmlns:a="http://schemas.openxmlformats.org/drawingml/2006/main" noGrp="1"/>
          </p:cNvSpPr>
          <p:nvPr/>
        </p:nvSpPr>
        <p:spPr>
          <a:xfrm xmlns:a="http://schemas.openxmlformats.org/drawingml/2006/main">
            <a:off x="571500" y="6019800"/>
            <a:ext cx="10810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36B78"/>
                </a:solidFill>
                <a:latin typeface="Arial"/>
                <a:ea typeface="Arial"/>
                <a:cs typeface="Arial"/>
              </a:defRPr>
            </a:defPPr>
          </a:lstStyle>
          <a:p xmlns:a="http://schemas.openxmlformats.org/drawingml/2006/main">
            <a:pPr>
              <a:defRPr sz="1725" b="0">
                <a:solidFill>
                  <a:srgbClr val="536B78"/>
                </a:solidFill>
                <a:latin typeface="Arial"/>
                <a:ea typeface="Arial"/>
                <a:cs typeface="Arial"/>
              </a:defRPr>
            </a:pPr>
            <a:r>
              <a:rPr sz="1725" b="0">
                <a:solidFill>
                  <a:srgbClr val="536B78"/>
                </a:solidFill>
                <a:latin typeface="Arial"/>
                <a:ea typeface="Arial"/>
                <a:cs typeface="Arial"/>
              </a:rPr>
              <a:t>Selected software checks. Real-driver detection accuracy remains unmeasured.</a:t>
            </a:r>
          </a:p>
        </p:txBody>
      </p:sp>
    </p:spTree>
    <p:extLst>
      <p:ext uri="{BB962C8B-B14F-4D97-AF65-F5344CB8AC3E}">
        <p14:creationId xmlns:p14="http://schemas.microsoft.com/office/powerpoint/2010/main" val="1637136308"/>
      </p:ext>
    </p:extLst>
  </p:cSld>
</p:sld>
</file>

<file path=ppt/slides/slide8.xml><?xml version="1.0" encoding="utf-8"?>
<p:sld xmlns:p="http://schemas.openxmlformats.org/presentationml/2006/main">
  <p:cSld>
    <p:bg>
      <p:bgPr>
        <a:solidFill xmlns:a="http://schemas.openxmlformats.org/drawingml/2006/main">
          <a:srgbClr val="14364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8981489-4EAF-49ED-A19E-B5A69820A1E1}"/>
              </a:ext>
            </a:extLst>
          </p:cNvPr>
          <p:cNvSpPr>
            <a:spLocks xmlns:a="http://schemas.openxmlformats.org/drawingml/2006/main" noGrp="1"/>
          </p:cNvSpPr>
          <p:nvPr/>
        </p:nvSpPr>
        <p:spPr>
          <a:xfrm xmlns:a="http://schemas.openxmlformats.org/drawingml/2006/main">
            <a:off x="571500" y="41910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FFFFF"/>
                </a:solidFill>
                <a:latin typeface="Arial"/>
                <a:ea typeface="Arial"/>
                <a:cs typeface="Arial"/>
              </a:defRPr>
            </a:def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Next evaluation</a:t>
            </a:r>
          </a:p>
        </p:txBody>
      </p:sp>
      <p:sp>
        <p:nvSpPr>
          <p:cNvPr id="2" name="">
            <a:extLst xmlns:a="http://schemas.openxmlformats.org/drawingml/2006/main">
              <a:ext uri="{FF2B5EF4-FFF2-40B4-BE49-F238E27FC236}">
                <a16:creationId xmlns:a16="http://schemas.microsoft.com/office/drawing/2014/main" id="{684813A9-513F-4C2B-8EDE-8147107DE4B1}"/>
              </a:ext>
            </a:extLst>
          </p:cNvPr>
          <p:cNvSpPr>
            <a:spLocks xmlns:a="http://schemas.openxmlformats.org/drawingml/2006/main" noGrp="1"/>
          </p:cNvSpPr>
          <p:nvPr/>
        </p:nvSpPr>
        <p:spPr>
          <a:xfrm xmlns:a="http://schemas.openxmlformats.org/drawingml/2006/main">
            <a:off x="1133475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D4E5EC"/>
                </a:solidFill>
                <a:latin typeface="Arial"/>
                <a:ea typeface="Arial"/>
                <a:cs typeface="Arial"/>
              </a:defRPr>
            </a:defPPr>
          </a:lstStyle>
          <a:p xmlns:a="http://schemas.openxmlformats.org/drawingml/2006/main">
            <a:pPr>
              <a:defRPr sz="1275" b="0">
                <a:solidFill>
                  <a:srgbClr val="D4E5EC"/>
                </a:solidFill>
                <a:latin typeface="Arial"/>
                <a:ea typeface="Arial"/>
                <a:cs typeface="Arial"/>
              </a:defRPr>
            </a:pPr>
            <a:r>
              <a:rPr sz="1275" b="0">
                <a:solidFill>
                  <a:srgbClr val="D4E5EC"/>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59FCBC89-9539-4885-9A15-A5D712F8472E}"/>
              </a:ext>
            </a:extLst>
          </p:cNvPr>
          <p:cNvSpPr>
            <a:spLocks xmlns:a="http://schemas.openxmlformats.org/drawingml/2006/main" noGrp="1"/>
          </p:cNvSpPr>
          <p:nvPr/>
        </p:nvSpPr>
        <p:spPr>
          <a:xfrm xmlns:a="http://schemas.openxmlformats.org/drawingml/2006/main">
            <a:off x="571500" y="1485900"/>
            <a:ext cx="10858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125" b="1">
                <a:solidFill>
                  <a:srgbClr val="FFFFFF"/>
                </a:solidFill>
                <a:latin typeface="Arial"/>
                <a:ea typeface="Arial"/>
                <a:cs typeface="Arial"/>
              </a:defRPr>
            </a:defPPr>
          </a:lstStyle>
          <a:p xmlns:a="http://schemas.openxmlformats.org/drawingml/2006/main">
            <a:pPr>
              <a:defRPr sz="4125" b="1">
                <a:solidFill>
                  <a:srgbClr val="FFFFFF"/>
                </a:solidFill>
                <a:latin typeface="Arial"/>
                <a:ea typeface="Arial"/>
                <a:cs typeface="Arial"/>
              </a:defRPr>
            </a:pPr>
            <a:r>
              <a:rPr sz="4125" b="1">
                <a:solidFill>
                  <a:srgbClr val="FFFFFF"/>
                </a:solidFill>
                <a:latin typeface="Arial"/>
                <a:ea typeface="Arial"/>
                <a:cs typeface="Arial"/>
              </a:rPr>
              <a:t>An explainable temporal</a:t>
            </a:r>
          </a:p>
          <a:p xmlns:a="http://schemas.openxmlformats.org/drawingml/2006/main">
            <a:pPr>
              <a:defRPr sz="4125" b="1">
                <a:solidFill>
                  <a:srgbClr val="FFFFFF"/>
                </a:solidFill>
                <a:latin typeface="Arial"/>
                <a:ea typeface="Arial"/>
                <a:cs typeface="Arial"/>
              </a:defRPr>
            </a:pPr>
            <a:r>
              <a:rPr sz="4125" b="1">
                <a:solidFill>
                  <a:srgbClr val="FFFFFF"/>
                </a:solidFill>
                <a:latin typeface="Arial"/>
                <a:ea typeface="Arial"/>
                <a:cs typeface="Arial"/>
              </a:rPr>
              <a:t>decision engine</a:t>
            </a:r>
          </a:p>
        </p:txBody>
      </p:sp>
      <p:sp>
        <p:nvSpPr>
          <p:cNvPr id="4" name="">
            <a:extLst xmlns:a="http://schemas.openxmlformats.org/drawingml/2006/main">
              <a:ext uri="{FF2B5EF4-FFF2-40B4-BE49-F238E27FC236}">
                <a16:creationId xmlns:a16="http://schemas.microsoft.com/office/drawing/2014/main" id="{97909047-A02C-443C-869A-845963881595}"/>
              </a:ext>
            </a:extLst>
          </p:cNvPr>
          <p:cNvSpPr>
            <a:spLocks xmlns:a="http://schemas.openxmlformats.org/drawingml/2006/main" noGrp="1"/>
          </p:cNvSpPr>
          <p:nvPr/>
        </p:nvSpPr>
        <p:spPr>
          <a:xfrm xmlns:a="http://schemas.openxmlformats.org/drawingml/2006/main">
            <a:off x="571500" y="3238500"/>
            <a:ext cx="106680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D4E5EC"/>
                </a:solidFill>
                <a:latin typeface="Arial"/>
                <a:ea typeface="Arial"/>
                <a:cs typeface="Arial"/>
              </a:defRPr>
            </a:defPPr>
          </a:lstStyle>
          <a:p xmlns:a="http://schemas.openxmlformats.org/drawingml/2006/main">
            <a:pPr>
              <a:defRPr sz="2400" b="0">
                <a:solidFill>
                  <a:srgbClr val="D4E5EC"/>
                </a:solidFill>
                <a:latin typeface="Arial"/>
                <a:ea typeface="Arial"/>
                <a:cs typeface="Arial"/>
              </a:defRPr>
            </a:pPr>
            <a:r>
              <a:rPr sz="2400" b="0">
                <a:solidFill>
                  <a:srgbClr val="D4E5EC"/>
                </a:solidFill>
                <a:latin typeface="Arial"/>
                <a:ea typeface="Arial"/>
                <a:cs typeface="Arial"/>
              </a:rPr>
              <a:t>Integrate the camera and landmark front end.</a:t>
            </a:r>
          </a:p>
          <a:p xmlns:a="http://schemas.openxmlformats.org/drawingml/2006/main">
            <a:pPr>
              <a:defRPr sz="2400" b="0">
                <a:solidFill>
                  <a:srgbClr val="D4E5EC"/>
                </a:solidFill>
                <a:latin typeface="Arial"/>
                <a:ea typeface="Arial"/>
                <a:cs typeface="Arial"/>
              </a:defRPr>
            </a:pPr>
            <a:r>
              <a:rPr sz="2400" b="0">
                <a:solidFill>
                  <a:srgbClr val="D4E5EC"/>
                </a:solidFill>
                <a:latin typeface="Arial"/>
                <a:ea typeface="Arial"/>
                <a:cs typeface="Arial"/>
              </a:rPr>
              <a:t>Evaluate independently labeled recordings with different test subjects.</a:t>
            </a:r>
          </a:p>
        </p:txBody>
      </p:sp>
      <p:sp>
        <p:nvSpPr>
          <p:cNvPr id="5" name="">
            <a:extLst xmlns:a="http://schemas.openxmlformats.org/drawingml/2006/main">
              <a:ext uri="{FF2B5EF4-FFF2-40B4-BE49-F238E27FC236}">
                <a16:creationId xmlns:a16="http://schemas.microsoft.com/office/drawing/2014/main" id="{9353C899-9E64-4929-89BD-DA2041456FE3}"/>
              </a:ext>
            </a:extLst>
          </p:cNvPr>
          <p:cNvSpPr>
            <a:spLocks xmlns:a="http://schemas.openxmlformats.org/drawingml/2006/main" noGrp="1"/>
          </p:cNvSpPr>
          <p:nvPr/>
        </p:nvSpPr>
        <p:spPr>
          <a:xfrm xmlns:a="http://schemas.openxmlformats.org/drawingml/2006/main">
            <a:off x="571500" y="49149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FFFFF"/>
                </a:solidFill>
                <a:latin typeface="Arial"/>
                <a:ea typeface="Arial"/>
                <a:cs typeface="Arial"/>
              </a:defRPr>
            </a:def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Measure false warnings, missed events, detection delay and latency.</a:t>
            </a:r>
          </a:p>
        </p:txBody>
      </p:sp>
    </p:spTree>
    <p:extLst>
      <p:ext uri="{BB962C8B-B14F-4D97-AF65-F5344CB8AC3E}">
        <p14:creationId xmlns:p14="http://schemas.microsoft.com/office/powerpoint/2010/main" val="151034917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3C1C4B0-8060-4704-9AF2-7876CDE58FA3}"/>
              </a:ext>
            </a:extLst>
          </p:cNvPr>
          <p:cNvSpPr>
            <a:spLocks xmlns:a="http://schemas.openxmlformats.org/drawingml/2006/main" noGrp="1"/>
          </p:cNvSpPr>
          <p:nvPr/>
        </p:nvSpPr>
        <p:spPr>
          <a:xfrm xmlns:a="http://schemas.openxmlformats.org/drawingml/2006/main">
            <a:off x="571500" y="41910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4364D"/>
                </a:solidFill>
                <a:latin typeface="Arial"/>
                <a:ea typeface="Arial"/>
                <a:cs typeface="Arial"/>
              </a:defRPr>
            </a:defPPr>
          </a:lstStyle>
          <a:p xmlns:a="http://schemas.openxmlformats.org/drawingml/2006/main">
            <a:pPr>
              <a:defRPr sz="3450" b="1">
                <a:solidFill>
                  <a:srgbClr val="14364D"/>
                </a:solidFill>
                <a:latin typeface="Arial"/>
                <a:ea typeface="Arial"/>
                <a:cs typeface="Arial"/>
              </a:defRPr>
            </a:pPr>
            <a:r>
              <a:rPr sz="3450" b="1">
                <a:solidFill>
                  <a:srgbClr val="14364D"/>
                </a:solidFill>
                <a:latin typeface="Arial"/>
                <a:ea typeface="Arial"/>
                <a:cs typeface="Arial"/>
              </a:rPr>
              <a:t>Appendix  Research comparison 1 of 3</a:t>
            </a:r>
          </a:p>
        </p:txBody>
      </p:sp>
      <p:sp>
        <p:nvSpPr>
          <p:cNvPr id="2" name="">
            <a:extLst xmlns:a="http://schemas.openxmlformats.org/drawingml/2006/main">
              <a:ext uri="{FF2B5EF4-FFF2-40B4-BE49-F238E27FC236}">
                <a16:creationId xmlns:a16="http://schemas.microsoft.com/office/drawing/2014/main" id="{7958DD2C-0E1F-4139-BAA0-225F17C25574}"/>
              </a:ext>
            </a:extLst>
          </p:cNvPr>
          <p:cNvSpPr>
            <a:spLocks xmlns:a="http://schemas.openxmlformats.org/drawingml/2006/main" noGrp="1"/>
          </p:cNvSpPr>
          <p:nvPr/>
        </p:nvSpPr>
        <p:spPr>
          <a:xfrm xmlns:a="http://schemas.openxmlformats.org/drawingml/2006/main">
            <a:off x="1133475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B78"/>
                </a:solidFill>
                <a:latin typeface="Arial"/>
                <a:ea typeface="Arial"/>
                <a:cs typeface="Arial"/>
              </a:defRPr>
            </a:defPPr>
          </a:lstStyle>
          <a:p xmlns:a="http://schemas.openxmlformats.org/drawingml/2006/main">
            <a:pPr>
              <a:defRPr sz="1275" b="0">
                <a:solidFill>
                  <a:srgbClr val="536B78"/>
                </a:solidFill>
                <a:latin typeface="Arial"/>
                <a:ea typeface="Arial"/>
                <a:cs typeface="Arial"/>
              </a:defRPr>
            </a:pPr>
            <a:r>
              <a:rPr sz="1275" b="0">
                <a:solidFill>
                  <a:srgbClr val="536B78"/>
                </a:solidFill>
                <a:latin typeface="Arial"/>
                <a:ea typeface="Arial"/>
                <a:cs typeface="Arial"/>
              </a:rPr>
              <a:t>09</a:t>
            </a:r>
          </a:p>
        </p:txBody>
      </p:sp>
      <p:graphicFrame>
        <p:nvGraphicFramePr>
          <p:cNvPr id="3" name="">
            <a:extLst xmlns:a="http://schemas.openxmlformats.org/drawingml/2006/main">
              <a:ext uri="{FF2B5EF4-FFF2-40B4-BE49-F238E27FC236}">
                <a16:creationId xmlns:a16="http://schemas.microsoft.com/office/drawing/2014/main" id="{1F0E14CB-C69A-41A2-A131-69EE1A9B58AA}"/>
              </a:ext>
            </a:extLst>
          </p:cNvPr>
          <p:cNvGraphicFramePr/>
          <p:nvPr/>
        </p:nvGraphicFramePr>
        <p:xfrm>
          <a:off xmlns:a="http://schemas.openxmlformats.org/drawingml/2006/main" x="381000" y="1381125"/>
          <a:ext xmlns:a="http://schemas.openxmlformats.org/drawingml/2006/main" cx="11430000" cy="4762500"/>
        </p:xfrm>
        <a:graphic xmlns:a="http://schemas.openxmlformats.org/drawingml/2006/main">
          <a:graphicData uri="http://schemas.openxmlformats.org/drawingml/2006/table">
            <a:tbl>
              <a:tblPr firstRow="1" bandRow="0"/>
              <a:tblGrid>
                <a:gridCol w="1143000"/>
                <a:gridCol w="2190750"/>
                <a:gridCol w="2571750"/>
                <a:gridCol w="2714625"/>
                <a:gridCol w="2809875"/>
              </a:tblGrid>
              <a:tr h="666750">
                <a:tc>
                  <a:txBody>
                    <a:bodyPr lIns="85725" tIns="85725" rIns="85725" bIns="85725">
                      <a:noAutofit/>
                    </a:bodyPr>
                    <a:lstStyle/>
                    <a:p>
                      <a:r>
                        <a:rPr sz="1500" b="1">
                          <a:solidFill>
                            <a:srgbClr val="FFFFFF"/>
                          </a:solidFill>
                          <a:latin typeface="Arial"/>
                          <a:ea typeface="Arial"/>
                          <a:cs typeface="Arial"/>
                        </a:rPr>
                        <a:t>Reference no.</a:t>
                      </a:r>
                    </a:p>
                  </a:txBody>
                  <a:tcPr marL="91440" marR="91440" marT="45720" marB="45720" anchor="t">
                    <a:lnL w="9525">
                      <a:solidFill>
                        <a:srgbClr val="D4E0E5"/>
                      </a:solidFill>
                      <a:prstDash val="solid"/>
                    </a:lnL>
                    <a:lnR w="9525">
                      <a:solidFill>
                        <a:srgbClr val="D4E0E5"/>
                      </a:solidFill>
                      <a:prstDash val="solid"/>
                    </a:lnR>
                    <a:lnT w="9525">
                      <a:solidFill>
                        <a:srgbClr val="D4E0E5"/>
                      </a:solidFill>
                      <a:prstDash val="solid"/>
                    </a:lnT>
                    <a:lnB w="9525">
                      <a:solidFill>
                        <a:srgbClr val="D4E0E5"/>
                      </a:solidFill>
                      <a:prstDash val="solid"/>
                    </a:lnB>
                    <a:solidFill>
                      <a:srgbClr val="14364D"/>
                    </a:solidFill>
                  </a:tcPr>
                </a:tc>
                <a:tc>
                  <a:txBody>
                    <a:bodyPr lIns="85725" tIns="85725" rIns="85725" bIns="85725">
                      <a:noAutofit/>
                    </a:bodyPr>
                    <a:lstStyle/>
                    <a:p>
                      <a:r>
                        <a:rPr sz="1500" b="1">
                          <a:solidFill>
                            <a:srgbClr val="FFFFFF"/>
                          </a:solidFill>
                          <a:latin typeface="Arial"/>
                          <a:ea typeface="Arial"/>
                          <a:cs typeface="Arial"/>
                        </a:rPr>
                        <a:t>Dataset used</a:t>
                      </a:r>
                    </a:p>
                  </a:txBody>
                  <a:tcPr marL="91440" marR="91440" marT="45720" marB="45720" anchor="t">
                    <a:lnR w="9525">
                      <a:solidFill>
                        <a:srgbClr val="D4E0E5"/>
                      </a:solidFill>
                      <a:prstDash val="solid"/>
                    </a:lnR>
                    <a:lnT w="9525">
                      <a:solidFill>
                        <a:srgbClr val="D4E0E5"/>
                      </a:solidFill>
                      <a:prstDash val="solid"/>
                    </a:lnT>
                    <a:lnB w="9525">
                      <a:solidFill>
                        <a:srgbClr val="D4E0E5"/>
                      </a:solidFill>
                      <a:prstDash val="solid"/>
                    </a:lnB>
                    <a:solidFill>
                      <a:srgbClr val="14364D"/>
                    </a:solidFill>
                  </a:tcPr>
                </a:tc>
                <a:tc>
                  <a:txBody>
                    <a:bodyPr lIns="85725" tIns="85725" rIns="85725" bIns="85725">
                      <a:noAutofit/>
                    </a:bodyPr>
                    <a:lstStyle/>
                    <a:p>
                      <a:r>
                        <a:rPr sz="1500" b="1">
                          <a:solidFill>
                            <a:srgbClr val="FFFFFF"/>
                          </a:solidFill>
                          <a:latin typeface="Arial"/>
                          <a:ea typeface="Arial"/>
                          <a:cs typeface="Arial"/>
                        </a:rPr>
                        <a:t>Methodology / algorithm used</a:t>
                      </a:r>
                    </a:p>
                  </a:txBody>
                  <a:tcPr marL="91440" marR="91440" marT="45720" marB="45720" anchor="t">
                    <a:lnR w="9525">
                      <a:solidFill>
                        <a:srgbClr val="D4E0E5"/>
                      </a:solidFill>
                      <a:prstDash val="solid"/>
                    </a:lnR>
                    <a:lnT w="9525">
                      <a:solidFill>
                        <a:srgbClr val="D4E0E5"/>
                      </a:solidFill>
                      <a:prstDash val="solid"/>
                    </a:lnT>
                    <a:lnB w="9525">
                      <a:solidFill>
                        <a:srgbClr val="D4E0E5"/>
                      </a:solidFill>
                      <a:prstDash val="solid"/>
                    </a:lnB>
                    <a:solidFill>
                      <a:srgbClr val="14364D"/>
                    </a:solidFill>
                  </a:tcPr>
                </a:tc>
                <a:tc>
                  <a:txBody>
                    <a:bodyPr lIns="85725" tIns="85725" rIns="85725" bIns="85725">
                      <a:noAutofit/>
                    </a:bodyPr>
                    <a:lstStyle/>
                    <a:p>
                      <a:r>
                        <a:rPr sz="1500" b="1">
                          <a:solidFill>
                            <a:srgbClr val="FFFFFF"/>
                          </a:solidFill>
                          <a:latin typeface="Arial"/>
                          <a:ea typeface="Arial"/>
                          <a:cs typeface="Arial"/>
                        </a:rPr>
                        <a:t>Performance parameters</a:t>
                      </a:r>
                    </a:p>
                  </a:txBody>
                  <a:tcPr marL="91440" marR="91440" marT="45720" marB="45720" anchor="t">
                    <a:lnR w="9525">
                      <a:solidFill>
                        <a:srgbClr val="D4E0E5"/>
                      </a:solidFill>
                      <a:prstDash val="solid"/>
                    </a:lnR>
                    <a:lnT w="9525">
                      <a:solidFill>
                        <a:srgbClr val="D4E0E5"/>
                      </a:solidFill>
                      <a:prstDash val="solid"/>
                    </a:lnT>
                    <a:lnB w="9525">
                      <a:solidFill>
                        <a:srgbClr val="D4E0E5"/>
                      </a:solidFill>
                      <a:prstDash val="solid"/>
                    </a:lnB>
                    <a:solidFill>
                      <a:srgbClr val="14364D"/>
                    </a:solidFill>
                  </a:tcPr>
                </a:tc>
                <a:tc>
                  <a:txBody>
                    <a:bodyPr lIns="85725" tIns="85725" rIns="85725" bIns="85725">
                      <a:noAutofit/>
                    </a:bodyPr>
                    <a:lstStyle/>
                    <a:p>
                      <a:r>
                        <a:rPr sz="1500" b="1">
                          <a:solidFill>
                            <a:srgbClr val="FFFFFF"/>
                          </a:solidFill>
                          <a:latin typeface="Arial"/>
                          <a:ea typeface="Arial"/>
                          <a:cs typeface="Arial"/>
                        </a:rPr>
                        <a:t>Research gap / disadvantages</a:t>
                      </a:r>
                    </a:p>
                  </a:txBody>
                  <a:tcPr marL="91440" marR="91440" marT="45720" marB="45720" anchor="t">
                    <a:lnR w="9525">
                      <a:solidFill>
                        <a:srgbClr val="D4E0E5"/>
                      </a:solidFill>
                      <a:prstDash val="solid"/>
                    </a:lnR>
                    <a:lnT w="9525">
                      <a:solidFill>
                        <a:srgbClr val="D4E0E5"/>
                      </a:solidFill>
                      <a:prstDash val="solid"/>
                    </a:lnT>
                    <a:lnB w="9525">
                      <a:solidFill>
                        <a:srgbClr val="D4E0E5"/>
                      </a:solidFill>
                      <a:prstDash val="solid"/>
                    </a:lnB>
                    <a:solidFill>
                      <a:srgbClr val="14364D"/>
                    </a:solidFill>
                  </a:tcPr>
                </a:tc>
              </a:tr>
              <a:tr h="1381125">
                <a:tc>
                  <a:txBody>
                    <a:bodyPr lIns="85725" tIns="85725" rIns="85725" bIns="85725">
                      <a:noAutofit/>
                    </a:bodyPr>
                    <a:lstStyle/>
                    <a:p>
                      <a:r>
                        <a:rPr sz="1500" b="0">
                          <a:solidFill>
                            <a:srgbClr val="1B313E"/>
                          </a:solidFill>
                          <a:latin typeface="Arial"/>
                          <a:ea typeface="Arial"/>
                          <a:cs typeface="Arial"/>
                        </a:rPr>
                        <a:t>[1]</a:t>
                      </a:r>
                    </a:p>
                  </a:txBody>
                  <a:tcPr marL="91440" marR="91440" marT="45720" marB="45720" anchor="t">
                    <a:lnL w="9525">
                      <a:solidFill>
                        <a:srgbClr val="D4E0E5"/>
                      </a:solidFill>
                      <a:prstDash val="solid"/>
                    </a:lnL>
                    <a:lnR w="9525">
                      <a:solidFill>
                        <a:srgbClr val="D4E0E5"/>
                      </a:solidFill>
                      <a:prstDash val="solid"/>
                    </a:lnR>
                    <a:lnB w="9525">
                      <a:solidFill>
                        <a:srgbClr val="D4E0E5"/>
                      </a:solidFill>
                      <a:prstDash val="solid"/>
                    </a:lnB>
                    <a:solidFill>
                      <a:srgbClr val="EDF4F6"/>
                    </a:solidFill>
                  </a:tcPr>
                </a:tc>
                <a:tc>
                  <a:txBody>
                    <a:bodyPr lIns="85725" tIns="85725" rIns="85725" bIns="85725">
                      <a:noAutofit/>
                    </a:bodyPr>
                    <a:lstStyle/>
                    <a:p>
                      <a:r>
                        <a:rPr sz="1500" b="0">
                          <a:solidFill>
                            <a:srgbClr val="1B313E"/>
                          </a:solidFill>
                          <a:latin typeface="Arial"/>
                          <a:ea typeface="Arial"/>
                          <a:cs typeface="Arial"/>
                        </a:rPr>
                        <a:t>Controlled ocular measurement and psychomotor-vigilance study</a:t>
                      </a:r>
                    </a:p>
                  </a:txBody>
                  <a:tcPr marL="91440" marR="91440" marT="45720" marB="45720" anchor="t">
                    <a:lnR w="9525">
                      <a:solidFill>
                        <a:srgbClr val="D4E0E5"/>
                      </a:solidFill>
                      <a:prstDash val="solid"/>
                    </a:lnR>
                    <a:lnB w="9525">
                      <a:solidFill>
                        <a:srgbClr val="D4E0E5"/>
                      </a:solidFill>
                      <a:prstDash val="solid"/>
                    </a:lnB>
                    <a:solidFill>
                      <a:srgbClr val="EDF4F6"/>
                    </a:solidFill>
                  </a:tcPr>
                </a:tc>
                <a:tc>
                  <a:txBody>
                    <a:bodyPr lIns="85725" tIns="85725" rIns="85725" bIns="85725">
                      <a:noAutofit/>
                    </a:bodyPr>
                    <a:lstStyle/>
                    <a:p>
                      <a:r>
                        <a:rPr sz="1500" b="0">
                          <a:solidFill>
                            <a:srgbClr val="1B313E"/>
                          </a:solidFill>
                          <a:latin typeface="Arial"/>
                          <a:ea typeface="Arial"/>
                          <a:cs typeface="Arial"/>
                        </a:rPr>
                        <a:t>Physiological PERCLOS validation</a:t>
                      </a:r>
                    </a:p>
                  </a:txBody>
                  <a:tcPr marL="91440" marR="91440" marT="45720" marB="45720" anchor="t">
                    <a:lnR w="9525">
                      <a:solidFill>
                        <a:srgbClr val="D4E0E5"/>
                      </a:solidFill>
                      <a:prstDash val="solid"/>
                    </a:lnR>
                    <a:lnB w="9525">
                      <a:solidFill>
                        <a:srgbClr val="D4E0E5"/>
                      </a:solidFill>
                      <a:prstDash val="solid"/>
                    </a:lnB>
                    <a:solidFill>
                      <a:srgbClr val="EDF4F6"/>
                    </a:solidFill>
                  </a:tcPr>
                </a:tc>
                <a:tc>
                  <a:txBody>
                    <a:bodyPr lIns="85725" tIns="85725" rIns="85725" bIns="85725">
                      <a:noAutofit/>
                    </a:bodyPr>
                    <a:lstStyle/>
                    <a:p>
                      <a:r>
                        <a:rPr sz="1500" b="0">
                          <a:solidFill>
                            <a:srgbClr val="1B313E"/>
                          </a:solidFill>
                          <a:latin typeface="Arial"/>
                          <a:ea typeface="Arial"/>
                          <a:cs typeface="Arial"/>
                        </a:rPr>
                        <a:t>Relationship with alertness and vigilance; no project accuracy</a:t>
                      </a:r>
                    </a:p>
                  </a:txBody>
                  <a:tcPr marL="91440" marR="91440" marT="45720" marB="45720" anchor="t">
                    <a:lnR w="9525">
                      <a:solidFill>
                        <a:srgbClr val="D4E0E5"/>
                      </a:solidFill>
                      <a:prstDash val="solid"/>
                    </a:lnR>
                    <a:lnB w="9525">
                      <a:solidFill>
                        <a:srgbClr val="D4E0E5"/>
                      </a:solidFill>
                      <a:prstDash val="solid"/>
                    </a:lnB>
                    <a:solidFill>
                      <a:srgbClr val="EDF4F6"/>
                    </a:solidFill>
                  </a:tcPr>
                </a:tc>
                <a:tc>
                  <a:txBody>
                    <a:bodyPr lIns="85725" tIns="85725" rIns="85725" bIns="85725">
                      <a:noAutofit/>
                    </a:bodyPr>
                    <a:lstStyle/>
                    <a:p>
                      <a:r>
                        <a:rPr sz="1500" b="0">
                          <a:solidFill>
                            <a:srgbClr val="1B313E"/>
                          </a:solidFill>
                          <a:latin typeface="Arial"/>
                          <a:ea typeface="Arial"/>
                          <a:cs typeface="Arial"/>
                        </a:rPr>
                        <a:t>The project needs calibrated eyelid-closure measurement before claiming equivalence.</a:t>
                      </a:r>
                    </a:p>
                  </a:txBody>
                  <a:tcPr marL="91440" marR="91440" marT="45720" marB="45720" anchor="t">
                    <a:lnR w="9525">
                      <a:solidFill>
                        <a:srgbClr val="D4E0E5"/>
                      </a:solidFill>
                      <a:prstDash val="solid"/>
                    </a:lnR>
                    <a:lnB w="9525">
                      <a:solidFill>
                        <a:srgbClr val="D4E0E5"/>
                      </a:solidFill>
                      <a:prstDash val="solid"/>
                    </a:lnB>
                    <a:solidFill>
                      <a:srgbClr val="EDF4F6"/>
                    </a:solidFill>
                  </a:tcPr>
                </a:tc>
              </a:tr>
              <a:tr h="1333500">
                <a:tc>
                  <a:txBody>
                    <a:bodyPr lIns="85725" tIns="85725" rIns="85725" bIns="85725">
                      <a:noAutofit/>
                    </a:bodyPr>
                    <a:lstStyle/>
                    <a:p>
                      <a:r>
                        <a:rPr sz="1500" b="0">
                          <a:solidFill>
                            <a:srgbClr val="1B313E"/>
                          </a:solidFill>
                          <a:latin typeface="Arial"/>
                          <a:ea typeface="Arial"/>
                          <a:cs typeface="Arial"/>
                        </a:rPr>
                        <a:t>[2]</a:t>
                      </a:r>
                    </a:p>
                  </a:txBody>
                  <a:tcPr marL="91440" marR="91440" marT="45720" marB="45720" anchor="t">
                    <a:lnL w="9525">
                      <a:solidFill>
                        <a:srgbClr val="D4E0E5"/>
                      </a:solidFill>
                      <a:prstDash val="solid"/>
                    </a:lnL>
                    <a:lnR w="9525">
                      <a:solidFill>
                        <a:srgbClr val="D4E0E5"/>
                      </a:solidFill>
                      <a:prstDash val="solid"/>
                    </a:lnR>
                    <a:lnB w="9525">
                      <a:solidFill>
                        <a:srgbClr val="D4E0E5"/>
                      </a:solidFill>
                      <a:prstDash val="solid"/>
                    </a:lnB>
                    <a:solidFill>
                      <a:srgbClr val="FFFFFF"/>
                    </a:solidFill>
                  </a:tcPr>
                </a:tc>
                <a:tc>
                  <a:txBody>
                    <a:bodyPr lIns="85725" tIns="85725" rIns="85725" bIns="85725">
                      <a:noAutofit/>
                    </a:bodyPr>
                    <a:lstStyle/>
                    <a:p>
                      <a:r>
                        <a:rPr sz="1500" b="0">
                          <a:solidFill>
                            <a:srgbClr val="1B313E"/>
                          </a:solidFill>
                          <a:latin typeface="Arial"/>
                          <a:ea typeface="Arial"/>
                          <a:cs typeface="Arial"/>
                        </a:rPr>
                        <a:t>ZJU and Eyeblink8 video sequences</a:t>
                      </a:r>
                    </a:p>
                  </a:txBody>
                  <a:tcPr marL="91440" marR="91440" marT="45720" marB="45720" anchor="t">
                    <a:lnR w="9525">
                      <a:solidFill>
                        <a:srgbClr val="D4E0E5"/>
                      </a:solidFill>
                      <a:prstDash val="solid"/>
                    </a:lnR>
                    <a:lnB w="9525">
                      <a:solidFill>
                        <a:srgbClr val="D4E0E5"/>
                      </a:solidFill>
                      <a:prstDash val="solid"/>
                    </a:lnB>
                    <a:solidFill>
                      <a:srgbClr val="FFFFFF"/>
                    </a:solidFill>
                  </a:tcPr>
                </a:tc>
                <a:tc>
                  <a:txBody>
                    <a:bodyPr lIns="85725" tIns="85725" rIns="85725" bIns="85725">
                      <a:noAutofit/>
                    </a:bodyPr>
                    <a:lstStyle/>
                    <a:p>
                      <a:r>
                        <a:rPr sz="1500" b="0">
                          <a:solidFill>
                            <a:srgbClr val="1B313E"/>
                          </a:solidFill>
                          <a:latin typeface="Arial"/>
                          <a:ea typeface="Arial"/>
                          <a:cs typeface="Arial"/>
                        </a:rPr>
                        <a:t>Facial landmarks, eye aspect ratio, short temporal window and support vector machine</a:t>
                      </a:r>
                    </a:p>
                  </a:txBody>
                  <a:tcPr marL="91440" marR="91440" marT="45720" marB="45720" anchor="t">
                    <a:lnR w="9525">
                      <a:solidFill>
                        <a:srgbClr val="D4E0E5"/>
                      </a:solidFill>
                      <a:prstDash val="solid"/>
                    </a:lnR>
                    <a:lnB w="9525">
                      <a:solidFill>
                        <a:srgbClr val="D4E0E5"/>
                      </a:solidFill>
                      <a:prstDash val="solid"/>
                    </a:lnB>
                    <a:solidFill>
                      <a:srgbClr val="FFFFFF"/>
                    </a:solidFill>
                  </a:tcPr>
                </a:tc>
                <a:tc>
                  <a:txBody>
                    <a:bodyPr lIns="85725" tIns="85725" rIns="85725" bIns="85725">
                      <a:noAutofit/>
                    </a:bodyPr>
                    <a:lstStyle/>
                    <a:p>
                      <a:r>
                        <a:rPr sz="1500" b="0">
                          <a:solidFill>
                            <a:srgbClr val="1B313E"/>
                          </a:solidFill>
                          <a:latin typeface="Arial"/>
                          <a:ea typeface="Arial"/>
                          <a:cs typeface="Arial"/>
                        </a:rPr>
                        <a:t>Blink detection; not a four-state drowsiness benchmark</a:t>
                      </a:r>
                    </a:p>
                  </a:txBody>
                  <a:tcPr marL="91440" marR="91440" marT="45720" marB="45720" anchor="t">
                    <a:lnR w="9525">
                      <a:solidFill>
                        <a:srgbClr val="D4E0E5"/>
                      </a:solidFill>
                      <a:prstDash val="solid"/>
                    </a:lnR>
                    <a:lnB w="9525">
                      <a:solidFill>
                        <a:srgbClr val="D4E0E5"/>
                      </a:solidFill>
                      <a:prstDash val="solid"/>
                    </a:lnB>
                    <a:solidFill>
                      <a:srgbClr val="FFFFFF"/>
                    </a:solidFill>
                  </a:tcPr>
                </a:tc>
                <a:tc>
                  <a:txBody>
                    <a:bodyPr lIns="85725" tIns="85725" rIns="85725" bIns="85725">
                      <a:noAutofit/>
                    </a:bodyPr>
                    <a:lstStyle/>
                    <a:p>
                      <a:r>
                        <a:rPr sz="1500" b="0">
                          <a:solidFill>
                            <a:srgbClr val="1B313E"/>
                          </a:solidFill>
                          <a:latin typeface="Arial"/>
                          <a:ea typeface="Arial"/>
                          <a:cs typeface="Arial"/>
                        </a:rPr>
                        <a:t>Blink recognition alone does not establish fatigue or warning validity.</a:t>
                      </a:r>
                    </a:p>
                  </a:txBody>
                  <a:tcPr marL="91440" marR="91440" marT="45720" marB="45720" anchor="t">
                    <a:lnR w="9525">
                      <a:solidFill>
                        <a:srgbClr val="D4E0E5"/>
                      </a:solidFill>
                      <a:prstDash val="solid"/>
                    </a:lnR>
                    <a:lnB w="9525">
                      <a:solidFill>
                        <a:srgbClr val="D4E0E5"/>
                      </a:solidFill>
                      <a:prstDash val="solid"/>
                    </a:lnB>
                    <a:solidFill>
                      <a:srgbClr val="FFFFFF"/>
                    </a:solidFill>
                  </a:tcPr>
                </a:tc>
              </a:tr>
              <a:tr h="1381125">
                <a:tc>
                  <a:txBody>
                    <a:bodyPr lIns="85725" tIns="85725" rIns="85725" bIns="85725">
                      <a:noAutofit/>
                    </a:bodyPr>
                    <a:lstStyle/>
                    <a:p>
                      <a:r>
                        <a:rPr sz="1500" b="0">
                          <a:solidFill>
                            <a:srgbClr val="1B313E"/>
                          </a:solidFill>
                          <a:latin typeface="Arial"/>
                          <a:ea typeface="Arial"/>
                          <a:cs typeface="Arial"/>
                        </a:rPr>
                        <a:t>[3]</a:t>
                      </a:r>
                    </a:p>
                  </a:txBody>
                  <a:tcPr marL="91440" marR="91440" marT="45720" marB="45720" anchor="t">
                    <a:lnL w="9525">
                      <a:solidFill>
                        <a:srgbClr val="D4E0E5"/>
                      </a:solidFill>
                      <a:prstDash val="solid"/>
                    </a:lnL>
                    <a:lnR w="9525">
                      <a:solidFill>
                        <a:srgbClr val="D4E0E5"/>
                      </a:solidFill>
                      <a:prstDash val="solid"/>
                    </a:lnR>
                    <a:lnB w="9525">
                      <a:solidFill>
                        <a:srgbClr val="D4E0E5"/>
                      </a:solidFill>
                      <a:prstDash val="solid"/>
                    </a:lnB>
                    <a:solidFill>
                      <a:srgbClr val="EDF4F6"/>
                    </a:solidFill>
                  </a:tcPr>
                </a:tc>
                <a:tc>
                  <a:txBody>
                    <a:bodyPr lIns="85725" tIns="85725" rIns="85725" bIns="85725">
                      <a:noAutofit/>
                    </a:bodyPr>
                    <a:lstStyle/>
                    <a:p>
                      <a:r>
                        <a:rPr sz="1500" b="0">
                          <a:solidFill>
                            <a:srgbClr val="1B313E"/>
                          </a:solidFill>
                          <a:latin typeface="Arial"/>
                          <a:ea typeface="Arial"/>
                          <a:cs typeface="Arial"/>
                        </a:rPr>
                        <a:t>YawDD in-car video sets</a:t>
                      </a:r>
                    </a:p>
                  </a:txBody>
                  <a:tcPr marL="91440" marR="91440" marT="45720" marB="45720" anchor="t">
                    <a:lnR w="9525">
                      <a:solidFill>
                        <a:srgbClr val="D4E0E5"/>
                      </a:solidFill>
                      <a:prstDash val="solid"/>
                    </a:lnR>
                    <a:lnB w="9525">
                      <a:solidFill>
                        <a:srgbClr val="D4E0E5"/>
                      </a:solidFill>
                      <a:prstDash val="solid"/>
                    </a:lnB>
                    <a:solidFill>
                      <a:srgbClr val="EDF4F6"/>
                    </a:solidFill>
                  </a:tcPr>
                </a:tc>
                <a:tc>
                  <a:txBody>
                    <a:bodyPr lIns="85725" tIns="85725" rIns="85725" bIns="85725">
                      <a:noAutofit/>
                    </a:bodyPr>
                    <a:lstStyle/>
                    <a:p>
                      <a:r>
                        <a:rPr sz="1500" b="0">
                          <a:solidFill>
                            <a:srgbClr val="1B313E"/>
                          </a:solidFill>
                          <a:latin typeface="Arial"/>
                          <a:ea typeface="Arial"/>
                          <a:cs typeface="Arial"/>
                        </a:rPr>
                        <a:t>Dataset of normal mouth activity, speech or singing, and yawning</a:t>
                      </a:r>
                    </a:p>
                  </a:txBody>
                  <a:tcPr marL="91440" marR="91440" marT="45720" marB="45720" anchor="t">
                    <a:lnR w="9525">
                      <a:solidFill>
                        <a:srgbClr val="D4E0E5"/>
                      </a:solidFill>
                      <a:prstDash val="solid"/>
                    </a:lnR>
                    <a:lnB w="9525">
                      <a:solidFill>
                        <a:srgbClr val="D4E0E5"/>
                      </a:solidFill>
                      <a:prstDash val="solid"/>
                    </a:lnB>
                    <a:solidFill>
                      <a:srgbClr val="EDF4F6"/>
                    </a:solidFill>
                  </a:tcPr>
                </a:tc>
                <a:tc>
                  <a:txBody>
                    <a:bodyPr lIns="85725" tIns="85725" rIns="85725" bIns="85725">
                      <a:noAutofit/>
                    </a:bodyPr>
                    <a:lstStyle/>
                    <a:p>
                      <a:r>
                        <a:rPr sz="1500" b="0">
                          <a:solidFill>
                            <a:srgbClr val="1B313E"/>
                          </a:solidFill>
                          <a:latin typeface="Arial"/>
                          <a:ea typeface="Arial"/>
                          <a:cs typeface="Arial"/>
                        </a:rPr>
                        <a:t>322 videos in one camera setup; 29 in the other; dataset descriptors</a:t>
                      </a:r>
                    </a:p>
                  </a:txBody>
                  <a:tcPr marL="91440" marR="91440" marT="45720" marB="45720" anchor="t">
                    <a:lnR w="9525">
                      <a:solidFill>
                        <a:srgbClr val="D4E0E5"/>
                      </a:solidFill>
                      <a:prstDash val="solid"/>
                    </a:lnR>
                    <a:lnB w="9525">
                      <a:solidFill>
                        <a:srgbClr val="D4E0E5"/>
                      </a:solidFill>
                      <a:prstDash val="solid"/>
                    </a:lnB>
                    <a:solidFill>
                      <a:srgbClr val="EDF4F6"/>
                    </a:solidFill>
                  </a:tcPr>
                </a:tc>
                <a:tc>
                  <a:txBody>
                    <a:bodyPr lIns="85725" tIns="85725" rIns="85725" bIns="85725">
                      <a:noAutofit/>
                    </a:bodyPr>
                    <a:lstStyle/>
                    <a:p>
                      <a:r>
                        <a:rPr sz="1500" b="0">
                          <a:solidFill>
                            <a:srgbClr val="1B313E"/>
                          </a:solidFill>
                          <a:latin typeface="Arial"/>
                          <a:ea typeface="Arial"/>
                          <a:cs typeface="Arial"/>
                        </a:rPr>
                        <a:t>Yawning labels do not by themselves establish physiological drowsiness.</a:t>
                      </a:r>
                    </a:p>
                  </a:txBody>
                  <a:tcPr marL="91440" marR="91440" marT="45720" marB="45720" anchor="t">
                    <a:lnR w="9525">
                      <a:solidFill>
                        <a:srgbClr val="D4E0E5"/>
                      </a:solidFill>
                      <a:prstDash val="solid"/>
                    </a:lnR>
                    <a:lnB w="9525">
                      <a:solidFill>
                        <a:srgbClr val="D4E0E5"/>
                      </a:solidFill>
                      <a:prstDash val="solid"/>
                    </a:lnB>
                    <a:solidFill>
                      <a:srgbClr val="EDF4F6"/>
                    </a:solidFill>
                  </a:tcPr>
                </a:tc>
              </a:tr>
            </a:tbl>
          </a:graphicData>
        </a:graphic>
      </p:graphicFrame>
      <p:sp>
        <p:nvSpPr>
          <p:cNvPr id="4" name="">
            <a:extLst xmlns:a="http://schemas.openxmlformats.org/drawingml/2006/main">
              <a:ext uri="{FF2B5EF4-FFF2-40B4-BE49-F238E27FC236}">
                <a16:creationId xmlns:a16="http://schemas.microsoft.com/office/drawing/2014/main" id="{1BADC39F-EFC5-4107-8276-FF517771A6A0}"/>
              </a:ext>
            </a:extLst>
          </p:cNvPr>
          <p:cNvSpPr>
            <a:spLocks xmlns:a="http://schemas.openxmlformats.org/drawingml/2006/main" noGrp="1"/>
          </p:cNvSpPr>
          <p:nvPr/>
        </p:nvSpPr>
        <p:spPr>
          <a:xfrm xmlns:a="http://schemas.openxmlformats.org/drawingml/2006/main">
            <a:off x="381000" y="636270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B78"/>
                </a:solidFill>
                <a:latin typeface="Arial"/>
                <a:ea typeface="Arial"/>
                <a:cs typeface="Arial"/>
              </a:defRPr>
            </a:defPPr>
          </a:lstStyle>
          <a:p xmlns:a="http://schemas.openxmlformats.org/drawingml/2006/main">
            <a:pPr>
              <a:defRPr sz="1350" b="0">
                <a:solidFill>
                  <a:srgbClr val="536B78"/>
                </a:solidFill>
                <a:latin typeface="Arial"/>
                <a:ea typeface="Arial"/>
                <a:cs typeface="Arial"/>
              </a:defRPr>
            </a:pPr>
            <a:r>
              <a:rPr sz="1350" b="0">
                <a:solidFill>
                  <a:srgbClr val="536B78"/>
                </a:solidFill>
                <a:latin typeface="Arial"/>
                <a:ea typeface="Arial"/>
                <a:cs typeface="Arial"/>
              </a:rPr>
              <a:t>Published results belong to the cited studies. They do not measure Drishti.</a:t>
            </a:r>
          </a:p>
        </p:txBody>
      </p:sp>
    </p:spTree>
    <p:extLst>
      <p:ext uri="{BB962C8B-B14F-4D97-AF65-F5344CB8AC3E}">
        <p14:creationId xmlns:p14="http://schemas.microsoft.com/office/powerpoint/2010/main" val="83459611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26BBB9B-51A7-46E4-9EC2-6BB3C082E86B}"/>
              </a:ext>
            </a:extLst>
          </p:cNvPr>
          <p:cNvSpPr>
            <a:spLocks xmlns:a="http://schemas.openxmlformats.org/drawingml/2006/main" noGrp="1"/>
          </p:cNvSpPr>
          <p:nvPr/>
        </p:nvSpPr>
        <p:spPr>
          <a:xfrm xmlns:a="http://schemas.openxmlformats.org/drawingml/2006/main">
            <a:off x="571500" y="41910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4364D"/>
                </a:solidFill>
                <a:latin typeface="Arial"/>
                <a:ea typeface="Arial"/>
                <a:cs typeface="Arial"/>
              </a:defRPr>
            </a:defPPr>
          </a:lstStyle>
          <a:p xmlns:a="http://schemas.openxmlformats.org/drawingml/2006/main">
            <a:pPr>
              <a:defRPr sz="3450" b="1">
                <a:solidFill>
                  <a:srgbClr val="14364D"/>
                </a:solidFill>
                <a:latin typeface="Arial"/>
                <a:ea typeface="Arial"/>
                <a:cs typeface="Arial"/>
              </a:defRPr>
            </a:pPr>
            <a:r>
              <a:rPr sz="3450" b="1">
                <a:solidFill>
                  <a:srgbClr val="14364D"/>
                </a:solidFill>
                <a:latin typeface="Arial"/>
                <a:ea typeface="Arial"/>
                <a:cs typeface="Arial"/>
              </a:rPr>
              <a:t>Appendix  Research comparison 2 of 3</a:t>
            </a:r>
          </a:p>
        </p:txBody>
      </p:sp>
      <p:sp>
        <p:nvSpPr>
          <p:cNvPr id="2" name="">
            <a:extLst xmlns:a="http://schemas.openxmlformats.org/drawingml/2006/main">
              <a:ext uri="{FF2B5EF4-FFF2-40B4-BE49-F238E27FC236}">
                <a16:creationId xmlns:a16="http://schemas.microsoft.com/office/drawing/2014/main" id="{2EF2F176-9509-4BD3-9D55-5C4753BBD870}"/>
              </a:ext>
            </a:extLst>
          </p:cNvPr>
          <p:cNvSpPr>
            <a:spLocks xmlns:a="http://schemas.openxmlformats.org/drawingml/2006/main" noGrp="1"/>
          </p:cNvSpPr>
          <p:nvPr/>
        </p:nvSpPr>
        <p:spPr>
          <a:xfrm xmlns:a="http://schemas.openxmlformats.org/drawingml/2006/main">
            <a:off x="1133475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B78"/>
                </a:solidFill>
                <a:latin typeface="Arial"/>
                <a:ea typeface="Arial"/>
                <a:cs typeface="Arial"/>
              </a:defRPr>
            </a:defPPr>
          </a:lstStyle>
          <a:p xmlns:a="http://schemas.openxmlformats.org/drawingml/2006/main">
            <a:pPr>
              <a:defRPr sz="1275" b="0">
                <a:solidFill>
                  <a:srgbClr val="536B78"/>
                </a:solidFill>
                <a:latin typeface="Arial"/>
                <a:ea typeface="Arial"/>
                <a:cs typeface="Arial"/>
              </a:defRPr>
            </a:pPr>
            <a:r>
              <a:rPr sz="1275" b="0">
                <a:solidFill>
                  <a:srgbClr val="536B78"/>
                </a:solidFill>
                <a:latin typeface="Arial"/>
                <a:ea typeface="Arial"/>
                <a:cs typeface="Arial"/>
              </a:rPr>
              <a:t>10</a:t>
            </a:r>
          </a:p>
        </p:txBody>
      </p:sp>
      <p:graphicFrame>
        <p:nvGraphicFramePr>
          <p:cNvPr id="3" name="">
            <a:extLst xmlns:a="http://schemas.openxmlformats.org/drawingml/2006/main">
              <a:ext uri="{FF2B5EF4-FFF2-40B4-BE49-F238E27FC236}">
                <a16:creationId xmlns:a16="http://schemas.microsoft.com/office/drawing/2014/main" id="{1A6FD110-5C25-48C4-89B8-A854B53B7599}"/>
              </a:ext>
            </a:extLst>
          </p:cNvPr>
          <p:cNvGraphicFramePr/>
          <p:nvPr/>
        </p:nvGraphicFramePr>
        <p:xfrm>
          <a:off xmlns:a="http://schemas.openxmlformats.org/drawingml/2006/main" x="381000" y="1381125"/>
          <a:ext xmlns:a="http://schemas.openxmlformats.org/drawingml/2006/main" cx="11430000" cy="4724400"/>
        </p:xfrm>
        <a:graphic xmlns:a="http://schemas.openxmlformats.org/drawingml/2006/main">
          <a:graphicData uri="http://schemas.openxmlformats.org/drawingml/2006/table">
            <a:tbl>
              <a:tblPr firstRow="1" bandRow="0"/>
              <a:tblGrid>
                <a:gridCol w="1143000"/>
                <a:gridCol w="2190750"/>
                <a:gridCol w="2571750"/>
                <a:gridCol w="2714625"/>
                <a:gridCol w="2809875"/>
              </a:tblGrid>
              <a:tr h="666750">
                <a:tc>
                  <a:txBody>
                    <a:bodyPr lIns="85725" tIns="85725" rIns="85725" bIns="85725">
                      <a:noAutofit/>
                    </a:bodyPr>
                    <a:lstStyle/>
                    <a:p>
                      <a:r>
                        <a:rPr sz="1500" b="1">
                          <a:solidFill>
                            <a:srgbClr val="FFFFFF"/>
                          </a:solidFill>
                          <a:latin typeface="Arial"/>
                          <a:ea typeface="Arial"/>
                          <a:cs typeface="Arial"/>
                        </a:rPr>
                        <a:t>Reference no.</a:t>
                      </a:r>
                    </a:p>
                  </a:txBody>
                  <a:tcPr marL="91440" marR="91440" marT="45720" marB="45720" anchor="t">
                    <a:lnL w="9525">
                      <a:solidFill>
                        <a:srgbClr val="D4E0E5"/>
                      </a:solidFill>
                      <a:prstDash val="solid"/>
                    </a:lnL>
                    <a:lnR w="9525">
                      <a:solidFill>
                        <a:srgbClr val="D4E0E5"/>
                      </a:solidFill>
                      <a:prstDash val="solid"/>
                    </a:lnR>
                    <a:lnT w="9525">
                      <a:solidFill>
                        <a:srgbClr val="D4E0E5"/>
                      </a:solidFill>
                      <a:prstDash val="solid"/>
                    </a:lnT>
                    <a:lnB w="9525">
                      <a:solidFill>
                        <a:srgbClr val="D4E0E5"/>
                      </a:solidFill>
                      <a:prstDash val="solid"/>
                    </a:lnB>
                    <a:solidFill>
                      <a:srgbClr val="14364D"/>
                    </a:solidFill>
                  </a:tcPr>
                </a:tc>
                <a:tc>
                  <a:txBody>
                    <a:bodyPr lIns="85725" tIns="85725" rIns="85725" bIns="85725">
                      <a:noAutofit/>
                    </a:bodyPr>
                    <a:lstStyle/>
                    <a:p>
                      <a:r>
                        <a:rPr sz="1500" b="1">
                          <a:solidFill>
                            <a:srgbClr val="FFFFFF"/>
                          </a:solidFill>
                          <a:latin typeface="Arial"/>
                          <a:ea typeface="Arial"/>
                          <a:cs typeface="Arial"/>
                        </a:rPr>
                        <a:t>Dataset used</a:t>
                      </a:r>
                    </a:p>
                  </a:txBody>
                  <a:tcPr marL="91440" marR="91440" marT="45720" marB="45720" anchor="t">
                    <a:lnR w="9525">
                      <a:solidFill>
                        <a:srgbClr val="D4E0E5"/>
                      </a:solidFill>
                      <a:prstDash val="solid"/>
                    </a:lnR>
                    <a:lnT w="9525">
                      <a:solidFill>
                        <a:srgbClr val="D4E0E5"/>
                      </a:solidFill>
                      <a:prstDash val="solid"/>
                    </a:lnT>
                    <a:lnB w="9525">
                      <a:solidFill>
                        <a:srgbClr val="D4E0E5"/>
                      </a:solidFill>
                      <a:prstDash val="solid"/>
                    </a:lnB>
                    <a:solidFill>
                      <a:srgbClr val="14364D"/>
                    </a:solidFill>
                  </a:tcPr>
                </a:tc>
                <a:tc>
                  <a:txBody>
                    <a:bodyPr lIns="85725" tIns="85725" rIns="85725" bIns="85725">
                      <a:noAutofit/>
                    </a:bodyPr>
                    <a:lstStyle/>
                    <a:p>
                      <a:r>
                        <a:rPr sz="1500" b="1">
                          <a:solidFill>
                            <a:srgbClr val="FFFFFF"/>
                          </a:solidFill>
                          <a:latin typeface="Arial"/>
                          <a:ea typeface="Arial"/>
                          <a:cs typeface="Arial"/>
                        </a:rPr>
                        <a:t>Methodology / algorithm used</a:t>
                      </a:r>
                    </a:p>
                  </a:txBody>
                  <a:tcPr marL="91440" marR="91440" marT="45720" marB="45720" anchor="t">
                    <a:lnR w="9525">
                      <a:solidFill>
                        <a:srgbClr val="D4E0E5"/>
                      </a:solidFill>
                      <a:prstDash val="solid"/>
                    </a:lnR>
                    <a:lnT w="9525">
                      <a:solidFill>
                        <a:srgbClr val="D4E0E5"/>
                      </a:solidFill>
                      <a:prstDash val="solid"/>
                    </a:lnT>
                    <a:lnB w="9525">
                      <a:solidFill>
                        <a:srgbClr val="D4E0E5"/>
                      </a:solidFill>
                      <a:prstDash val="solid"/>
                    </a:lnB>
                    <a:solidFill>
                      <a:srgbClr val="14364D"/>
                    </a:solidFill>
                  </a:tcPr>
                </a:tc>
                <a:tc>
                  <a:txBody>
                    <a:bodyPr lIns="85725" tIns="85725" rIns="85725" bIns="85725">
                      <a:noAutofit/>
                    </a:bodyPr>
                    <a:lstStyle/>
                    <a:p>
                      <a:r>
                        <a:rPr sz="1500" b="1">
                          <a:solidFill>
                            <a:srgbClr val="FFFFFF"/>
                          </a:solidFill>
                          <a:latin typeface="Arial"/>
                          <a:ea typeface="Arial"/>
                          <a:cs typeface="Arial"/>
                        </a:rPr>
                        <a:t>Performance parameters</a:t>
                      </a:r>
                    </a:p>
                  </a:txBody>
                  <a:tcPr marL="91440" marR="91440" marT="45720" marB="45720" anchor="t">
                    <a:lnR w="9525">
                      <a:solidFill>
                        <a:srgbClr val="D4E0E5"/>
                      </a:solidFill>
                      <a:prstDash val="solid"/>
                    </a:lnR>
                    <a:lnT w="9525">
                      <a:solidFill>
                        <a:srgbClr val="D4E0E5"/>
                      </a:solidFill>
                      <a:prstDash val="solid"/>
                    </a:lnT>
                    <a:lnB w="9525">
                      <a:solidFill>
                        <a:srgbClr val="D4E0E5"/>
                      </a:solidFill>
                      <a:prstDash val="solid"/>
                    </a:lnB>
                    <a:solidFill>
                      <a:srgbClr val="14364D"/>
                    </a:solidFill>
                  </a:tcPr>
                </a:tc>
                <a:tc>
                  <a:txBody>
                    <a:bodyPr lIns="85725" tIns="85725" rIns="85725" bIns="85725">
                      <a:noAutofit/>
                    </a:bodyPr>
                    <a:lstStyle/>
                    <a:p>
                      <a:r>
                        <a:rPr sz="1500" b="1">
                          <a:solidFill>
                            <a:srgbClr val="FFFFFF"/>
                          </a:solidFill>
                          <a:latin typeface="Arial"/>
                          <a:ea typeface="Arial"/>
                          <a:cs typeface="Arial"/>
                        </a:rPr>
                        <a:t>Research gap / disadvantages</a:t>
                      </a:r>
                    </a:p>
                  </a:txBody>
                  <a:tcPr marL="91440" marR="91440" marT="45720" marB="45720" anchor="t">
                    <a:lnR w="9525">
                      <a:solidFill>
                        <a:srgbClr val="D4E0E5"/>
                      </a:solidFill>
                      <a:prstDash val="solid"/>
                    </a:lnR>
                    <a:lnT w="9525">
                      <a:solidFill>
                        <a:srgbClr val="D4E0E5"/>
                      </a:solidFill>
                      <a:prstDash val="solid"/>
                    </a:lnT>
                    <a:lnB w="9525">
                      <a:solidFill>
                        <a:srgbClr val="D4E0E5"/>
                      </a:solidFill>
                      <a:prstDash val="solid"/>
                    </a:lnB>
                    <a:solidFill>
                      <a:srgbClr val="14364D"/>
                    </a:solidFill>
                  </a:tcPr>
                </a:tc>
              </a:tr>
              <a:tr h="2028825">
                <a:tc>
                  <a:txBody>
                    <a:bodyPr lIns="85725" tIns="85725" rIns="85725" bIns="85725">
                      <a:noAutofit/>
                    </a:bodyPr>
                    <a:lstStyle/>
                    <a:p>
                      <a:r>
                        <a:rPr sz="1500" b="0">
                          <a:solidFill>
                            <a:srgbClr val="1B313E"/>
                          </a:solidFill>
                          <a:latin typeface="Arial"/>
                          <a:ea typeface="Arial"/>
                          <a:cs typeface="Arial"/>
                        </a:rPr>
                        <a:t>[7]</a:t>
                      </a:r>
                    </a:p>
                  </a:txBody>
                  <a:tcPr marL="91440" marR="91440" marT="45720" marB="45720" anchor="t">
                    <a:lnL w="9525">
                      <a:solidFill>
                        <a:srgbClr val="D4E0E5"/>
                      </a:solidFill>
                      <a:prstDash val="solid"/>
                    </a:lnL>
                    <a:lnR w="9525">
                      <a:solidFill>
                        <a:srgbClr val="D4E0E5"/>
                      </a:solidFill>
                      <a:prstDash val="solid"/>
                    </a:lnR>
                    <a:lnB w="9525">
                      <a:solidFill>
                        <a:srgbClr val="D4E0E5"/>
                      </a:solidFill>
                      <a:prstDash val="solid"/>
                    </a:lnB>
                    <a:solidFill>
                      <a:srgbClr val="EDF4F6"/>
                    </a:solidFill>
                  </a:tcPr>
                </a:tc>
                <a:tc>
                  <a:txBody>
                    <a:bodyPr lIns="85725" tIns="85725" rIns="85725" bIns="85725">
                      <a:noAutofit/>
                    </a:bodyPr>
                    <a:lstStyle/>
                    <a:p>
                      <a:r>
                        <a:rPr sz="1500" b="0">
                          <a:solidFill>
                            <a:srgbClr val="1B313E"/>
                          </a:solidFill>
                          <a:latin typeface="Arial"/>
                          <a:ea typeface="Arial"/>
                          <a:cs typeface="Arial"/>
                        </a:rPr>
                        <a:t>NTHU-DDD; additional FI-DDD dataset</a:t>
                      </a:r>
                    </a:p>
                  </a:txBody>
                  <a:tcPr marL="91440" marR="91440" marT="45720" marB="45720" anchor="t">
                    <a:lnR w="9525">
                      <a:solidFill>
                        <a:srgbClr val="D4E0E5"/>
                      </a:solidFill>
                      <a:prstDash val="solid"/>
                    </a:lnR>
                    <a:lnB w="9525">
                      <a:solidFill>
                        <a:srgbClr val="D4E0E5"/>
                      </a:solidFill>
                      <a:prstDash val="solid"/>
                    </a:lnB>
                    <a:solidFill>
                      <a:srgbClr val="EDF4F6"/>
                    </a:solidFill>
                  </a:tcPr>
                </a:tc>
                <a:tc>
                  <a:txBody>
                    <a:bodyPr lIns="85725" tIns="85725" rIns="85725" bIns="85725">
                      <a:noAutofit/>
                    </a:bodyPr>
                    <a:lstStyle/>
                    <a:p>
                      <a:r>
                        <a:rPr sz="1500" b="0">
                          <a:solidFill>
                            <a:srgbClr val="1B313E"/>
                          </a:solidFill>
                          <a:latin typeface="Arial"/>
                          <a:ea typeface="Arial"/>
                          <a:cs typeface="Arial"/>
                        </a:rPr>
                        <a:t>Multi-granularity convolutional features and long short-term memory</a:t>
                      </a:r>
                    </a:p>
                  </a:txBody>
                  <a:tcPr marL="91440" marR="91440" marT="45720" marB="45720" anchor="t">
                    <a:lnR w="9525">
                      <a:solidFill>
                        <a:srgbClr val="D4E0E5"/>
                      </a:solidFill>
                      <a:prstDash val="solid"/>
                    </a:lnR>
                    <a:lnB w="9525">
                      <a:solidFill>
                        <a:srgbClr val="D4E0E5"/>
                      </a:solidFill>
                      <a:prstDash val="solid"/>
                    </a:lnB>
                    <a:solidFill>
                      <a:srgbClr val="EDF4F6"/>
                    </a:solidFill>
                  </a:tcPr>
                </a:tc>
                <a:tc>
                  <a:txBody>
                    <a:bodyPr lIns="85725" tIns="85725" rIns="85725" bIns="85725">
                      <a:noAutofit/>
                    </a:bodyPr>
                    <a:lstStyle/>
                    <a:p>
                      <a:r>
                        <a:rPr sz="1500" b="0">
                          <a:solidFill>
                            <a:srgbClr val="1B313E"/>
                          </a:solidFill>
                          <a:latin typeface="Arial"/>
                          <a:ea typeface="Arial"/>
                          <a:cs typeface="Arial"/>
                        </a:rPr>
                        <a:t>Authors report 90.05% accuracy and approximately 37 frames/s on NTHU-DDD evaluation set</a:t>
                      </a:r>
                    </a:p>
                  </a:txBody>
                  <a:tcPr marL="91440" marR="91440" marT="45720" marB="45720" anchor="t">
                    <a:lnR w="9525">
                      <a:solidFill>
                        <a:srgbClr val="D4E0E5"/>
                      </a:solidFill>
                      <a:prstDash val="solid"/>
                    </a:lnR>
                    <a:lnB w="9525">
                      <a:solidFill>
                        <a:srgbClr val="D4E0E5"/>
                      </a:solidFill>
                      <a:prstDash val="solid"/>
                    </a:lnB>
                    <a:solidFill>
                      <a:srgbClr val="EDF4F6"/>
                    </a:solidFill>
                  </a:tcPr>
                </a:tc>
                <a:tc>
                  <a:txBody>
                    <a:bodyPr lIns="85725" tIns="85725" rIns="85725" bIns="85725">
                      <a:noAutofit/>
                    </a:bodyPr>
                    <a:lstStyle/>
                    <a:p>
                      <a:r>
                        <a:rPr sz="1500" b="0">
                          <a:solidFill>
                            <a:srgbClr val="1B313E"/>
                          </a:solidFill>
                          <a:latin typeface="Arial"/>
                          <a:ea typeface="Arial"/>
                          <a:cs typeface="Arial"/>
                        </a:rPr>
                        <a:t>Hardware and protocol differ from this project; model and inference cost require measurement.</a:t>
                      </a:r>
                    </a:p>
                  </a:txBody>
                  <a:tcPr marL="91440" marR="91440" marT="45720" marB="45720" anchor="t">
                    <a:lnR w="9525">
                      <a:solidFill>
                        <a:srgbClr val="D4E0E5"/>
                      </a:solidFill>
                      <a:prstDash val="solid"/>
                    </a:lnR>
                    <a:lnB w="9525">
                      <a:solidFill>
                        <a:srgbClr val="D4E0E5"/>
                      </a:solidFill>
                      <a:prstDash val="solid"/>
                    </a:lnB>
                    <a:solidFill>
                      <a:srgbClr val="EDF4F6"/>
                    </a:solidFill>
                  </a:tcPr>
                </a:tc>
              </a:tr>
              <a:tr h="2028825">
                <a:tc>
                  <a:txBody>
                    <a:bodyPr lIns="85725" tIns="85725" rIns="85725" bIns="85725">
                      <a:noAutofit/>
                    </a:bodyPr>
                    <a:lstStyle/>
                    <a:p>
                      <a:r>
                        <a:rPr sz="1500" b="0">
                          <a:solidFill>
                            <a:srgbClr val="1B313E"/>
                          </a:solidFill>
                          <a:latin typeface="Arial"/>
                          <a:ea typeface="Arial"/>
                          <a:cs typeface="Arial"/>
                        </a:rPr>
                        <a:t>[8]</a:t>
                      </a:r>
                    </a:p>
                  </a:txBody>
                  <a:tcPr marL="91440" marR="91440" marT="45720" marB="45720" anchor="t">
                    <a:lnL w="9525">
                      <a:solidFill>
                        <a:srgbClr val="D4E0E5"/>
                      </a:solidFill>
                      <a:prstDash val="solid"/>
                    </a:lnL>
                    <a:lnR w="9525">
                      <a:solidFill>
                        <a:srgbClr val="D4E0E5"/>
                      </a:solidFill>
                      <a:prstDash val="solid"/>
                    </a:lnR>
                    <a:lnB w="9525">
                      <a:solidFill>
                        <a:srgbClr val="D4E0E5"/>
                      </a:solidFill>
                      <a:prstDash val="solid"/>
                    </a:lnB>
                    <a:solidFill>
                      <a:srgbClr val="FFFFFF"/>
                    </a:solidFill>
                  </a:tcPr>
                </a:tc>
                <a:tc>
                  <a:txBody>
                    <a:bodyPr lIns="85725" tIns="85725" rIns="85725" bIns="85725">
                      <a:noAutofit/>
                    </a:bodyPr>
                    <a:lstStyle/>
                    <a:p>
                      <a:r>
                        <a:rPr sz="1500" b="0">
                          <a:solidFill>
                            <a:srgbClr val="1B313E"/>
                          </a:solidFill>
                          <a:latin typeface="Arial"/>
                          <a:ea typeface="Arial"/>
                          <a:cs typeface="Arial"/>
                        </a:rPr>
                        <a:t>UTA-RLDD: 60 subjects, approximately 30 h</a:t>
                      </a:r>
                    </a:p>
                  </a:txBody>
                  <a:tcPr marL="91440" marR="91440" marT="45720" marB="45720" anchor="t">
                    <a:lnR w="9525">
                      <a:solidFill>
                        <a:srgbClr val="D4E0E5"/>
                      </a:solidFill>
                      <a:prstDash val="solid"/>
                    </a:lnR>
                    <a:lnB w="9525">
                      <a:solidFill>
                        <a:srgbClr val="D4E0E5"/>
                      </a:solidFill>
                      <a:prstDash val="solid"/>
                    </a:lnB>
                    <a:solidFill>
                      <a:srgbClr val="FFFFFF"/>
                    </a:solidFill>
                  </a:tcPr>
                </a:tc>
                <a:tc>
                  <a:txBody>
                    <a:bodyPr lIns="85725" tIns="85725" rIns="85725" bIns="85725">
                      <a:noAutofit/>
                    </a:bodyPr>
                    <a:lstStyle/>
                    <a:p>
                      <a:r>
                        <a:rPr sz="1500" b="0">
                          <a:solidFill>
                            <a:srgbClr val="1B313E"/>
                          </a:solidFill>
                          <a:latin typeface="Arial"/>
                          <a:ea typeface="Arial"/>
                          <a:cs typeface="Arial"/>
                        </a:rPr>
                        <a:t>Blink features with hierarchical multiscale long short-term memory</a:t>
                      </a:r>
                    </a:p>
                  </a:txBody>
                  <a:tcPr marL="91440" marR="91440" marT="45720" marB="45720" anchor="t">
                    <a:lnR w="9525">
                      <a:solidFill>
                        <a:srgbClr val="D4E0E5"/>
                      </a:solidFill>
                      <a:prstDash val="solid"/>
                    </a:lnR>
                    <a:lnB w="9525">
                      <a:solidFill>
                        <a:srgbClr val="D4E0E5"/>
                      </a:solidFill>
                      <a:prstDash val="solid"/>
                    </a:lnB>
                    <a:solidFill>
                      <a:srgbClr val="FFFFFF"/>
                    </a:solidFill>
                  </a:tcPr>
                </a:tc>
                <a:tc>
                  <a:txBody>
                    <a:bodyPr lIns="85725" tIns="85725" rIns="85725" bIns="85725">
                      <a:noAutofit/>
                    </a:bodyPr>
                    <a:lstStyle/>
                    <a:p>
                      <a:r>
                        <a:rPr sz="1500" b="0">
                          <a:solidFill>
                            <a:srgbClr val="1B313E"/>
                          </a:solidFill>
                          <a:latin typeface="Arial"/>
                          <a:ea typeface="Arial"/>
                          <a:cs typeface="Arial"/>
                        </a:rPr>
                        <a:t>Three video states: alert, low vigilant, drowsy; classification benchmark</a:t>
                      </a:r>
                    </a:p>
                  </a:txBody>
                  <a:tcPr marL="91440" marR="91440" marT="45720" marB="45720" anchor="t">
                    <a:lnR w="9525">
                      <a:solidFill>
                        <a:srgbClr val="D4E0E5"/>
                      </a:solidFill>
                      <a:prstDash val="solid"/>
                    </a:lnR>
                    <a:lnB w="9525">
                      <a:solidFill>
                        <a:srgbClr val="D4E0E5"/>
                      </a:solidFill>
                      <a:prstDash val="solid"/>
                    </a:lnB>
                    <a:solidFill>
                      <a:srgbClr val="FFFFFF"/>
                    </a:solidFill>
                  </a:tcPr>
                </a:tc>
                <a:tc>
                  <a:txBody>
                    <a:bodyPr lIns="85725" tIns="85725" rIns="85725" bIns="85725">
                      <a:noAutofit/>
                    </a:bodyPr>
                    <a:lstStyle/>
                    <a:p>
                      <a:r>
                        <a:rPr sz="1500" b="0">
                          <a:solidFill>
                            <a:srgbClr val="1B313E"/>
                          </a:solidFill>
                          <a:latin typeface="Arial"/>
                          <a:ea typeface="Arial"/>
                          <a:cs typeface="Arial"/>
                        </a:rPr>
                        <a:t>Its three labels do not directly validate this engine’s four warning states.</a:t>
                      </a:r>
                    </a:p>
                  </a:txBody>
                  <a:tcPr marL="91440" marR="91440" marT="45720" marB="45720" anchor="t">
                    <a:lnR w="9525">
                      <a:solidFill>
                        <a:srgbClr val="D4E0E5"/>
                      </a:solidFill>
                      <a:prstDash val="solid"/>
                    </a:lnR>
                    <a:lnB w="9525">
                      <a:solidFill>
                        <a:srgbClr val="D4E0E5"/>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2F7C257-A2BD-4181-8506-DE9614D8633E}"/>
              </a:ext>
            </a:extLst>
          </p:cNvPr>
          <p:cNvSpPr>
            <a:spLocks xmlns:a="http://schemas.openxmlformats.org/drawingml/2006/main" noGrp="1"/>
          </p:cNvSpPr>
          <p:nvPr/>
        </p:nvSpPr>
        <p:spPr>
          <a:xfrm xmlns:a="http://schemas.openxmlformats.org/drawingml/2006/main">
            <a:off x="381000" y="636270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B78"/>
                </a:solidFill>
                <a:latin typeface="Arial"/>
                <a:ea typeface="Arial"/>
                <a:cs typeface="Arial"/>
              </a:defRPr>
            </a:defPPr>
          </a:lstStyle>
          <a:p xmlns:a="http://schemas.openxmlformats.org/drawingml/2006/main">
            <a:pPr>
              <a:defRPr sz="1350" b="0">
                <a:solidFill>
                  <a:srgbClr val="536B78"/>
                </a:solidFill>
                <a:latin typeface="Arial"/>
                <a:ea typeface="Arial"/>
                <a:cs typeface="Arial"/>
              </a:defRPr>
            </a:pPr>
            <a:r>
              <a:rPr sz="1350" b="0">
                <a:solidFill>
                  <a:srgbClr val="536B78"/>
                </a:solidFill>
                <a:latin typeface="Arial"/>
                <a:ea typeface="Arial"/>
                <a:cs typeface="Arial"/>
              </a:rPr>
              <a:t>Published results belong to the cited studies. They do not measure Drishti.</a:t>
            </a:r>
          </a:p>
        </p:txBody>
      </p:sp>
    </p:spTree>
    <p:extLst>
      <p:ext uri="{BB962C8B-B14F-4D97-AF65-F5344CB8AC3E}">
        <p14:creationId xmlns:p14="http://schemas.microsoft.com/office/powerpoint/2010/main" val="64851240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4A61D35-2EE3-47D4-8A00-0FEDB18AD761}"/>
              </a:ext>
            </a:extLst>
          </p:cNvPr>
          <p:cNvSpPr>
            <a:spLocks xmlns:a="http://schemas.openxmlformats.org/drawingml/2006/main" noGrp="1"/>
          </p:cNvSpPr>
          <p:nvPr/>
        </p:nvSpPr>
        <p:spPr>
          <a:xfrm xmlns:a="http://schemas.openxmlformats.org/drawingml/2006/main">
            <a:off x="571500" y="41910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4364D"/>
                </a:solidFill>
                <a:latin typeface="Arial"/>
                <a:ea typeface="Arial"/>
                <a:cs typeface="Arial"/>
              </a:defRPr>
            </a:defPPr>
          </a:lstStyle>
          <a:p xmlns:a="http://schemas.openxmlformats.org/drawingml/2006/main">
            <a:pPr>
              <a:defRPr sz="3450" b="1">
                <a:solidFill>
                  <a:srgbClr val="14364D"/>
                </a:solidFill>
                <a:latin typeface="Arial"/>
                <a:ea typeface="Arial"/>
                <a:cs typeface="Arial"/>
              </a:defRPr>
            </a:pPr>
            <a:r>
              <a:rPr sz="3450" b="1">
                <a:solidFill>
                  <a:srgbClr val="14364D"/>
                </a:solidFill>
                <a:latin typeface="Arial"/>
                <a:ea typeface="Arial"/>
                <a:cs typeface="Arial"/>
              </a:rPr>
              <a:t>Appendix  Research comparison 3 of 3</a:t>
            </a:r>
          </a:p>
        </p:txBody>
      </p:sp>
      <p:sp>
        <p:nvSpPr>
          <p:cNvPr id="2" name="">
            <a:extLst xmlns:a="http://schemas.openxmlformats.org/drawingml/2006/main">
              <a:ext uri="{FF2B5EF4-FFF2-40B4-BE49-F238E27FC236}">
                <a16:creationId xmlns:a16="http://schemas.microsoft.com/office/drawing/2014/main" id="{CD095CC4-6E35-4829-87DF-097BF31F0BFB}"/>
              </a:ext>
            </a:extLst>
          </p:cNvPr>
          <p:cNvSpPr>
            <a:spLocks xmlns:a="http://schemas.openxmlformats.org/drawingml/2006/main" noGrp="1"/>
          </p:cNvSpPr>
          <p:nvPr/>
        </p:nvSpPr>
        <p:spPr>
          <a:xfrm xmlns:a="http://schemas.openxmlformats.org/drawingml/2006/main">
            <a:off x="1133475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B78"/>
                </a:solidFill>
                <a:latin typeface="Arial"/>
                <a:ea typeface="Arial"/>
                <a:cs typeface="Arial"/>
              </a:defRPr>
            </a:defPPr>
          </a:lstStyle>
          <a:p xmlns:a="http://schemas.openxmlformats.org/drawingml/2006/main">
            <a:pPr>
              <a:defRPr sz="1275" b="0">
                <a:solidFill>
                  <a:srgbClr val="536B78"/>
                </a:solidFill>
                <a:latin typeface="Arial"/>
                <a:ea typeface="Arial"/>
                <a:cs typeface="Arial"/>
              </a:defRPr>
            </a:pPr>
            <a:r>
              <a:rPr sz="1275" b="0">
                <a:solidFill>
                  <a:srgbClr val="536B78"/>
                </a:solidFill>
                <a:latin typeface="Arial"/>
                <a:ea typeface="Arial"/>
                <a:cs typeface="Arial"/>
              </a:rPr>
              <a:t>11</a:t>
            </a:r>
          </a:p>
        </p:txBody>
      </p:sp>
      <p:graphicFrame>
        <p:nvGraphicFramePr>
          <p:cNvPr id="3" name="">
            <a:extLst xmlns:a="http://schemas.openxmlformats.org/drawingml/2006/main">
              <a:ext uri="{FF2B5EF4-FFF2-40B4-BE49-F238E27FC236}">
                <a16:creationId xmlns:a16="http://schemas.microsoft.com/office/drawing/2014/main" id="{0B9B4D58-5913-4A1B-88AF-000EE68679A5}"/>
              </a:ext>
            </a:extLst>
          </p:cNvPr>
          <p:cNvGraphicFramePr/>
          <p:nvPr/>
        </p:nvGraphicFramePr>
        <p:xfrm>
          <a:off xmlns:a="http://schemas.openxmlformats.org/drawingml/2006/main" x="381000" y="1381125"/>
          <a:ext xmlns:a="http://schemas.openxmlformats.org/drawingml/2006/main" cx="11430000" cy="4724400"/>
        </p:xfrm>
        <a:graphic xmlns:a="http://schemas.openxmlformats.org/drawingml/2006/main">
          <a:graphicData uri="http://schemas.openxmlformats.org/drawingml/2006/table">
            <a:tbl>
              <a:tblPr firstRow="1" bandRow="0"/>
              <a:tblGrid>
                <a:gridCol w="1143000"/>
                <a:gridCol w="2190750"/>
                <a:gridCol w="2571750"/>
                <a:gridCol w="2714625"/>
                <a:gridCol w="2809875"/>
              </a:tblGrid>
              <a:tr h="666750">
                <a:tc>
                  <a:txBody>
                    <a:bodyPr lIns="85725" tIns="85725" rIns="85725" bIns="85725">
                      <a:noAutofit/>
                    </a:bodyPr>
                    <a:lstStyle/>
                    <a:p>
                      <a:r>
                        <a:rPr sz="1500" b="1">
                          <a:solidFill>
                            <a:srgbClr val="FFFFFF"/>
                          </a:solidFill>
                          <a:latin typeface="Arial"/>
                          <a:ea typeface="Arial"/>
                          <a:cs typeface="Arial"/>
                        </a:rPr>
                        <a:t>Reference no.</a:t>
                      </a:r>
                    </a:p>
                  </a:txBody>
                  <a:tcPr marL="91440" marR="91440" marT="45720" marB="45720" anchor="t">
                    <a:lnL w="9525">
                      <a:solidFill>
                        <a:srgbClr val="D4E0E5"/>
                      </a:solidFill>
                      <a:prstDash val="solid"/>
                    </a:lnL>
                    <a:lnR w="9525">
                      <a:solidFill>
                        <a:srgbClr val="D4E0E5"/>
                      </a:solidFill>
                      <a:prstDash val="solid"/>
                    </a:lnR>
                    <a:lnT w="9525">
                      <a:solidFill>
                        <a:srgbClr val="D4E0E5"/>
                      </a:solidFill>
                      <a:prstDash val="solid"/>
                    </a:lnT>
                    <a:lnB w="9525">
                      <a:solidFill>
                        <a:srgbClr val="D4E0E5"/>
                      </a:solidFill>
                      <a:prstDash val="solid"/>
                    </a:lnB>
                    <a:solidFill>
                      <a:srgbClr val="14364D"/>
                    </a:solidFill>
                  </a:tcPr>
                </a:tc>
                <a:tc>
                  <a:txBody>
                    <a:bodyPr lIns="85725" tIns="85725" rIns="85725" bIns="85725">
                      <a:noAutofit/>
                    </a:bodyPr>
                    <a:lstStyle/>
                    <a:p>
                      <a:r>
                        <a:rPr sz="1500" b="1">
                          <a:solidFill>
                            <a:srgbClr val="FFFFFF"/>
                          </a:solidFill>
                          <a:latin typeface="Arial"/>
                          <a:ea typeface="Arial"/>
                          <a:cs typeface="Arial"/>
                        </a:rPr>
                        <a:t>Dataset used</a:t>
                      </a:r>
                    </a:p>
                  </a:txBody>
                  <a:tcPr marL="91440" marR="91440" marT="45720" marB="45720" anchor="t">
                    <a:lnR w="9525">
                      <a:solidFill>
                        <a:srgbClr val="D4E0E5"/>
                      </a:solidFill>
                      <a:prstDash val="solid"/>
                    </a:lnR>
                    <a:lnT w="9525">
                      <a:solidFill>
                        <a:srgbClr val="D4E0E5"/>
                      </a:solidFill>
                      <a:prstDash val="solid"/>
                    </a:lnT>
                    <a:lnB w="9525">
                      <a:solidFill>
                        <a:srgbClr val="D4E0E5"/>
                      </a:solidFill>
                      <a:prstDash val="solid"/>
                    </a:lnB>
                    <a:solidFill>
                      <a:srgbClr val="14364D"/>
                    </a:solidFill>
                  </a:tcPr>
                </a:tc>
                <a:tc>
                  <a:txBody>
                    <a:bodyPr lIns="85725" tIns="85725" rIns="85725" bIns="85725">
                      <a:noAutofit/>
                    </a:bodyPr>
                    <a:lstStyle/>
                    <a:p>
                      <a:r>
                        <a:rPr sz="1500" b="1">
                          <a:solidFill>
                            <a:srgbClr val="FFFFFF"/>
                          </a:solidFill>
                          <a:latin typeface="Arial"/>
                          <a:ea typeface="Arial"/>
                          <a:cs typeface="Arial"/>
                        </a:rPr>
                        <a:t>Methodology / algorithm used</a:t>
                      </a:r>
                    </a:p>
                  </a:txBody>
                  <a:tcPr marL="91440" marR="91440" marT="45720" marB="45720" anchor="t">
                    <a:lnR w="9525">
                      <a:solidFill>
                        <a:srgbClr val="D4E0E5"/>
                      </a:solidFill>
                      <a:prstDash val="solid"/>
                    </a:lnR>
                    <a:lnT w="9525">
                      <a:solidFill>
                        <a:srgbClr val="D4E0E5"/>
                      </a:solidFill>
                      <a:prstDash val="solid"/>
                    </a:lnT>
                    <a:lnB w="9525">
                      <a:solidFill>
                        <a:srgbClr val="D4E0E5"/>
                      </a:solidFill>
                      <a:prstDash val="solid"/>
                    </a:lnB>
                    <a:solidFill>
                      <a:srgbClr val="14364D"/>
                    </a:solidFill>
                  </a:tcPr>
                </a:tc>
                <a:tc>
                  <a:txBody>
                    <a:bodyPr lIns="85725" tIns="85725" rIns="85725" bIns="85725">
                      <a:noAutofit/>
                    </a:bodyPr>
                    <a:lstStyle/>
                    <a:p>
                      <a:r>
                        <a:rPr sz="1500" b="1">
                          <a:solidFill>
                            <a:srgbClr val="FFFFFF"/>
                          </a:solidFill>
                          <a:latin typeface="Arial"/>
                          <a:ea typeface="Arial"/>
                          <a:cs typeface="Arial"/>
                        </a:rPr>
                        <a:t>Performance parameters</a:t>
                      </a:r>
                    </a:p>
                  </a:txBody>
                  <a:tcPr marL="91440" marR="91440" marT="45720" marB="45720" anchor="t">
                    <a:lnR w="9525">
                      <a:solidFill>
                        <a:srgbClr val="D4E0E5"/>
                      </a:solidFill>
                      <a:prstDash val="solid"/>
                    </a:lnR>
                    <a:lnT w="9525">
                      <a:solidFill>
                        <a:srgbClr val="D4E0E5"/>
                      </a:solidFill>
                      <a:prstDash val="solid"/>
                    </a:lnT>
                    <a:lnB w="9525">
                      <a:solidFill>
                        <a:srgbClr val="D4E0E5"/>
                      </a:solidFill>
                      <a:prstDash val="solid"/>
                    </a:lnB>
                    <a:solidFill>
                      <a:srgbClr val="14364D"/>
                    </a:solidFill>
                  </a:tcPr>
                </a:tc>
                <a:tc>
                  <a:txBody>
                    <a:bodyPr lIns="85725" tIns="85725" rIns="85725" bIns="85725">
                      <a:noAutofit/>
                    </a:bodyPr>
                    <a:lstStyle/>
                    <a:p>
                      <a:r>
                        <a:rPr sz="1500" b="1">
                          <a:solidFill>
                            <a:srgbClr val="FFFFFF"/>
                          </a:solidFill>
                          <a:latin typeface="Arial"/>
                          <a:ea typeface="Arial"/>
                          <a:cs typeface="Arial"/>
                        </a:rPr>
                        <a:t>Research gap / disadvantages</a:t>
                      </a:r>
                    </a:p>
                  </a:txBody>
                  <a:tcPr marL="91440" marR="91440" marT="45720" marB="45720" anchor="t">
                    <a:lnR w="9525">
                      <a:solidFill>
                        <a:srgbClr val="D4E0E5"/>
                      </a:solidFill>
                      <a:prstDash val="solid"/>
                    </a:lnR>
                    <a:lnT w="9525">
                      <a:solidFill>
                        <a:srgbClr val="D4E0E5"/>
                      </a:solidFill>
                      <a:prstDash val="solid"/>
                    </a:lnT>
                    <a:lnB w="9525">
                      <a:solidFill>
                        <a:srgbClr val="D4E0E5"/>
                      </a:solidFill>
                      <a:prstDash val="solid"/>
                    </a:lnB>
                    <a:solidFill>
                      <a:srgbClr val="14364D"/>
                    </a:solidFill>
                  </a:tcPr>
                </a:tc>
              </a:tr>
              <a:tr h="2028825">
                <a:tc>
                  <a:txBody>
                    <a:bodyPr lIns="85725" tIns="85725" rIns="85725" bIns="85725">
                      <a:noAutofit/>
                    </a:bodyPr>
                    <a:lstStyle/>
                    <a:p>
                      <a:r>
                        <a:rPr sz="1500" b="0">
                          <a:solidFill>
                            <a:srgbClr val="1B313E"/>
                          </a:solidFill>
                          <a:latin typeface="Arial"/>
                          <a:ea typeface="Arial"/>
                          <a:cs typeface="Arial"/>
                        </a:rPr>
                        <a:t>[9]</a:t>
                      </a:r>
                    </a:p>
                  </a:txBody>
                  <a:tcPr marL="91440" marR="91440" marT="45720" marB="45720" anchor="t">
                    <a:lnL w="9525">
                      <a:solidFill>
                        <a:srgbClr val="D4E0E5"/>
                      </a:solidFill>
                      <a:prstDash val="solid"/>
                    </a:lnL>
                    <a:lnR w="9525">
                      <a:solidFill>
                        <a:srgbClr val="D4E0E5"/>
                      </a:solidFill>
                      <a:prstDash val="solid"/>
                    </a:lnR>
                    <a:lnB w="9525">
                      <a:solidFill>
                        <a:srgbClr val="D4E0E5"/>
                      </a:solidFill>
                      <a:prstDash val="solid"/>
                    </a:lnB>
                    <a:solidFill>
                      <a:srgbClr val="EDF4F6"/>
                    </a:solidFill>
                  </a:tcPr>
                </a:tc>
                <a:tc>
                  <a:txBody>
                    <a:bodyPr lIns="85725" tIns="85725" rIns="85725" bIns="85725">
                      <a:noAutofit/>
                    </a:bodyPr>
                    <a:lstStyle/>
                    <a:p>
                      <a:r>
                        <a:rPr sz="1500" b="0">
                          <a:solidFill>
                            <a:srgbClr val="1B313E"/>
                          </a:solidFill>
                          <a:latin typeface="Arial"/>
                          <a:ea typeface="Arial"/>
                          <a:cs typeface="Arial"/>
                        </a:rPr>
                        <a:t>Talking Face, Eyeblink8, Eye Video S1</a:t>
                      </a:r>
                    </a:p>
                  </a:txBody>
                  <a:tcPr marL="91440" marR="91440" marT="45720" marB="45720" anchor="t">
                    <a:lnR w="9525">
                      <a:solidFill>
                        <a:srgbClr val="D4E0E5"/>
                      </a:solidFill>
                      <a:prstDash val="solid"/>
                    </a:lnR>
                    <a:lnB w="9525">
                      <a:solidFill>
                        <a:srgbClr val="D4E0E5"/>
                      </a:solidFill>
                      <a:prstDash val="solid"/>
                    </a:lnB>
                    <a:solidFill>
                      <a:srgbClr val="EDF4F6"/>
                    </a:solidFill>
                  </a:tcPr>
                </a:tc>
                <a:tc>
                  <a:txBody>
                    <a:bodyPr lIns="85725" tIns="85725" rIns="85725" bIns="85725">
                      <a:noAutofit/>
                    </a:bodyPr>
                    <a:lstStyle/>
                    <a:p>
                      <a:r>
                        <a:rPr sz="1500" b="0">
                          <a:solidFill>
                            <a:srgbClr val="1B313E"/>
                          </a:solidFill>
                          <a:latin typeface="Arial"/>
                          <a:ea typeface="Arial"/>
                          <a:cs typeface="Arial"/>
                        </a:rPr>
                        <a:t>Modified eye aspect ratio for blink detection</a:t>
                      </a:r>
                    </a:p>
                  </a:txBody>
                  <a:tcPr marL="91440" marR="91440" marT="45720" marB="45720" anchor="t">
                    <a:lnR w="9525">
                      <a:solidFill>
                        <a:srgbClr val="D4E0E5"/>
                      </a:solidFill>
                      <a:prstDash val="solid"/>
                    </a:lnR>
                    <a:lnB w="9525">
                      <a:solidFill>
                        <a:srgbClr val="D4E0E5"/>
                      </a:solidFill>
                      <a:prstDash val="solid"/>
                    </a:lnB>
                    <a:solidFill>
                      <a:srgbClr val="EDF4F6"/>
                    </a:solidFill>
                  </a:tcPr>
                </a:tc>
                <a:tc>
                  <a:txBody>
                    <a:bodyPr lIns="85725" tIns="85725" rIns="85725" bIns="85725">
                      <a:noAutofit/>
                    </a:bodyPr>
                    <a:lstStyle/>
                    <a:p>
                      <a:r>
                        <a:rPr sz="1500" b="0">
                          <a:solidFill>
                            <a:srgbClr val="1B313E"/>
                          </a:solidFill>
                          <a:latin typeface="Arial"/>
                          <a:ea typeface="Arial"/>
                          <a:cs typeface="Arial"/>
                        </a:rPr>
                        <a:t>Blink-detection evaluation across datasets</a:t>
                      </a:r>
                    </a:p>
                  </a:txBody>
                  <a:tcPr marL="91440" marR="91440" marT="45720" marB="45720" anchor="t">
                    <a:lnR w="9525">
                      <a:solidFill>
                        <a:srgbClr val="D4E0E5"/>
                      </a:solidFill>
                      <a:prstDash val="solid"/>
                    </a:lnR>
                    <a:lnB w="9525">
                      <a:solidFill>
                        <a:srgbClr val="D4E0E5"/>
                      </a:solidFill>
                      <a:prstDash val="solid"/>
                    </a:lnB>
                    <a:solidFill>
                      <a:srgbClr val="EDF4F6"/>
                    </a:solidFill>
                  </a:tcPr>
                </a:tc>
                <a:tc>
                  <a:txBody>
                    <a:bodyPr lIns="85725" tIns="85725" rIns="85725" bIns="85725">
                      <a:noAutofit/>
                    </a:bodyPr>
                    <a:lstStyle/>
                    <a:p>
                      <a:r>
                        <a:rPr sz="1500" b="0">
                          <a:solidFill>
                            <a:srgbClr val="1B313E"/>
                          </a:solidFill>
                          <a:latin typeface="Arial"/>
                          <a:ea typeface="Arial"/>
                          <a:cs typeface="Arial"/>
                        </a:rPr>
                        <a:t>User-dependent eye geometry motivates threshold calibration; blink labels remain distinct from drowsiness.</a:t>
                      </a:r>
                    </a:p>
                  </a:txBody>
                  <a:tcPr marL="91440" marR="91440" marT="45720" marB="45720" anchor="t">
                    <a:lnR w="9525">
                      <a:solidFill>
                        <a:srgbClr val="D4E0E5"/>
                      </a:solidFill>
                      <a:prstDash val="solid"/>
                    </a:lnR>
                    <a:lnB w="9525">
                      <a:solidFill>
                        <a:srgbClr val="D4E0E5"/>
                      </a:solidFill>
                      <a:prstDash val="solid"/>
                    </a:lnB>
                    <a:solidFill>
                      <a:srgbClr val="EDF4F6"/>
                    </a:solidFill>
                  </a:tcPr>
                </a:tc>
              </a:tr>
              <a:tr h="2028825">
                <a:tc>
                  <a:txBody>
                    <a:bodyPr lIns="85725" tIns="85725" rIns="85725" bIns="85725">
                      <a:noAutofit/>
                    </a:bodyPr>
                    <a:lstStyle/>
                    <a:p>
                      <a:r>
                        <a:rPr sz="1500" b="0">
                          <a:solidFill>
                            <a:srgbClr val="1B313E"/>
                          </a:solidFill>
                          <a:latin typeface="Arial"/>
                          <a:ea typeface="Arial"/>
                          <a:cs typeface="Arial"/>
                        </a:rPr>
                        <a:t>[10]</a:t>
                      </a:r>
                    </a:p>
                  </a:txBody>
                  <a:tcPr marL="91440" marR="91440" marT="45720" marB="45720" anchor="t">
                    <a:lnL w="9525">
                      <a:solidFill>
                        <a:srgbClr val="D4E0E5"/>
                      </a:solidFill>
                      <a:prstDash val="solid"/>
                    </a:lnL>
                    <a:lnR w="9525">
                      <a:solidFill>
                        <a:srgbClr val="D4E0E5"/>
                      </a:solidFill>
                      <a:prstDash val="solid"/>
                    </a:lnR>
                    <a:lnB w="9525">
                      <a:solidFill>
                        <a:srgbClr val="D4E0E5"/>
                      </a:solidFill>
                      <a:prstDash val="solid"/>
                    </a:lnB>
                    <a:solidFill>
                      <a:srgbClr val="FFFFFF"/>
                    </a:solidFill>
                  </a:tcPr>
                </a:tc>
                <a:tc>
                  <a:txBody>
                    <a:bodyPr lIns="85725" tIns="85725" rIns="85725" bIns="85725">
                      <a:noAutofit/>
                    </a:bodyPr>
                    <a:lstStyle/>
                    <a:p>
                      <a:r>
                        <a:rPr sz="1500" b="0">
                          <a:solidFill>
                            <a:srgbClr val="1B313E"/>
                          </a:solidFill>
                          <a:latin typeface="Arial"/>
                          <a:ea typeface="Arial"/>
                          <a:cs typeface="Arial"/>
                        </a:rPr>
                        <a:t>YawDD+ frame annotations derived from YawDD</a:t>
                      </a:r>
                    </a:p>
                  </a:txBody>
                  <a:tcPr marL="91440" marR="91440" marT="45720" marB="45720" anchor="t">
                    <a:lnR w="9525">
                      <a:solidFill>
                        <a:srgbClr val="D4E0E5"/>
                      </a:solidFill>
                      <a:prstDash val="solid"/>
                    </a:lnR>
                    <a:lnB w="9525">
                      <a:solidFill>
                        <a:srgbClr val="D4E0E5"/>
                      </a:solidFill>
                      <a:prstDash val="solid"/>
                    </a:lnB>
                    <a:solidFill>
                      <a:srgbClr val="FFFFFF"/>
                    </a:solidFill>
                  </a:tcPr>
                </a:tc>
                <a:tc>
                  <a:txBody>
                    <a:bodyPr lIns="85725" tIns="85725" rIns="85725" bIns="85725">
                      <a:noAutofit/>
                    </a:bodyPr>
                    <a:lstStyle/>
                    <a:p>
                      <a:r>
                        <a:rPr sz="1500" b="0">
                          <a:solidFill>
                            <a:srgbClr val="1B313E"/>
                          </a:solidFill>
                          <a:latin typeface="Arial"/>
                          <a:ea typeface="Arial"/>
                          <a:cs typeface="Arial"/>
                        </a:rPr>
                        <a:t>Human-verified temporal labeling; MNasNet and YOLOv11 models</a:t>
                      </a:r>
                    </a:p>
                  </a:txBody>
                  <a:tcPr marL="91440" marR="91440" marT="45720" marB="45720" anchor="t">
                    <a:lnR w="9525">
                      <a:solidFill>
                        <a:srgbClr val="D4E0E5"/>
                      </a:solidFill>
                      <a:prstDash val="solid"/>
                    </a:lnR>
                    <a:lnB w="9525">
                      <a:solidFill>
                        <a:srgbClr val="D4E0E5"/>
                      </a:solidFill>
                      <a:prstDash val="solid"/>
                    </a:lnB>
                    <a:solidFill>
                      <a:srgbClr val="FFFFFF"/>
                    </a:solidFill>
                  </a:tcPr>
                </a:tc>
                <a:tc>
                  <a:txBody>
                    <a:bodyPr lIns="85725" tIns="85725" rIns="85725" bIns="85725">
                      <a:noAutofit/>
                    </a:bodyPr>
                    <a:lstStyle/>
                    <a:p>
                      <a:r>
                        <a:rPr sz="1500" b="0">
                          <a:solidFill>
                            <a:srgbClr val="1B313E"/>
                          </a:solidFill>
                          <a:latin typeface="Arial"/>
                          <a:ea typeface="Arial"/>
                          <a:cs typeface="Arial"/>
                        </a:rPr>
                        <a:t>v3 authors report 99.34% classification accuracy and 95.69% detection mAP</a:t>
                      </a:r>
                    </a:p>
                  </a:txBody>
                  <a:tcPr marL="91440" marR="91440" marT="45720" marB="45720" anchor="t">
                    <a:lnR w="9525">
                      <a:solidFill>
                        <a:srgbClr val="D4E0E5"/>
                      </a:solidFill>
                      <a:prstDash val="solid"/>
                    </a:lnR>
                    <a:lnB w="9525">
                      <a:solidFill>
                        <a:srgbClr val="D4E0E5"/>
                      </a:solidFill>
                      <a:prstDash val="solid"/>
                    </a:lnB>
                    <a:solidFill>
                      <a:srgbClr val="FFFFFF"/>
                    </a:solidFill>
                  </a:tcPr>
                </a:tc>
                <a:tc>
                  <a:txBody>
                    <a:bodyPr lIns="85725" tIns="85725" rIns="85725" bIns="85725">
                      <a:noAutofit/>
                    </a:bodyPr>
                    <a:lstStyle/>
                    <a:p>
                      <a:r>
                        <a:rPr sz="1500" b="0">
                          <a:solidFill>
                            <a:srgbClr val="1B313E"/>
                          </a:solidFill>
                          <a:latin typeface="Arial"/>
                          <a:ea typeface="Arial"/>
                          <a:cs typeface="Arial"/>
                        </a:rPr>
                        <a:t>Yawn classification and object-detection metrics cannot be transferred to drowsiness classification.</a:t>
                      </a:r>
                    </a:p>
                  </a:txBody>
                  <a:tcPr marL="91440" marR="91440" marT="45720" marB="45720" anchor="t">
                    <a:lnR w="9525">
                      <a:solidFill>
                        <a:srgbClr val="D4E0E5"/>
                      </a:solidFill>
                      <a:prstDash val="solid"/>
                    </a:lnR>
                    <a:lnB w="9525">
                      <a:solidFill>
                        <a:srgbClr val="D4E0E5"/>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ACAD01D-6BC3-469B-9730-42E94B14D2DE}"/>
              </a:ext>
            </a:extLst>
          </p:cNvPr>
          <p:cNvSpPr>
            <a:spLocks xmlns:a="http://schemas.openxmlformats.org/drawingml/2006/main" noGrp="1"/>
          </p:cNvSpPr>
          <p:nvPr/>
        </p:nvSpPr>
        <p:spPr>
          <a:xfrm xmlns:a="http://schemas.openxmlformats.org/drawingml/2006/main">
            <a:off x="381000" y="6362700"/>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B78"/>
                </a:solidFill>
                <a:latin typeface="Arial"/>
                <a:ea typeface="Arial"/>
                <a:cs typeface="Arial"/>
              </a:defRPr>
            </a:defPPr>
          </a:lstStyle>
          <a:p xmlns:a="http://schemas.openxmlformats.org/drawingml/2006/main">
            <a:pPr>
              <a:defRPr sz="1350" b="0">
                <a:solidFill>
                  <a:srgbClr val="536B78"/>
                </a:solidFill>
                <a:latin typeface="Arial"/>
                <a:ea typeface="Arial"/>
                <a:cs typeface="Arial"/>
              </a:defRPr>
            </a:pPr>
            <a:r>
              <a:rPr sz="1350" b="0">
                <a:solidFill>
                  <a:srgbClr val="536B78"/>
                </a:solidFill>
                <a:latin typeface="Arial"/>
                <a:ea typeface="Arial"/>
                <a:cs typeface="Arial"/>
              </a:rPr>
              <a:t>Published results belong to the cited studies. They do not measure Drishti.</a:t>
            </a:r>
          </a:p>
        </p:txBody>
      </p:sp>
    </p:spTree>
    <p:extLst>
      <p:ext uri="{BB962C8B-B14F-4D97-AF65-F5344CB8AC3E}">
        <p14:creationId xmlns:p14="http://schemas.microsoft.com/office/powerpoint/2010/main" val="141891469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1C5772F-EBBF-4E10-B180-BF6FE971C722}"/>
              </a:ext>
            </a:extLst>
          </p:cNvPr>
          <p:cNvSpPr>
            <a:spLocks xmlns:a="http://schemas.openxmlformats.org/drawingml/2006/main" noGrp="1"/>
          </p:cNvSpPr>
          <p:nvPr/>
        </p:nvSpPr>
        <p:spPr>
          <a:xfrm xmlns:a="http://schemas.openxmlformats.org/drawingml/2006/main">
            <a:off x="571500" y="419100"/>
            <a:ext cx="1104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4364D"/>
                </a:solidFill>
                <a:latin typeface="Arial"/>
                <a:ea typeface="Arial"/>
                <a:cs typeface="Arial"/>
              </a:defRPr>
            </a:defPPr>
          </a:lstStyle>
          <a:p xmlns:a="http://schemas.openxmlformats.org/drawingml/2006/main">
            <a:pPr>
              <a:defRPr sz="3450" b="1">
                <a:solidFill>
                  <a:srgbClr val="14364D"/>
                </a:solidFill>
                <a:latin typeface="Arial"/>
                <a:ea typeface="Arial"/>
                <a:cs typeface="Arial"/>
              </a:defRPr>
            </a:pPr>
            <a:r>
              <a:rPr sz="3450" b="1">
                <a:solidFill>
                  <a:srgbClr val="14364D"/>
                </a:solidFill>
                <a:latin typeface="Arial"/>
                <a:ea typeface="Arial"/>
                <a:cs typeface="Arial"/>
              </a:rPr>
              <a:t>References</a:t>
            </a:r>
          </a:p>
        </p:txBody>
      </p:sp>
      <p:sp>
        <p:nvSpPr>
          <p:cNvPr id="2" name="">
            <a:extLst xmlns:a="http://schemas.openxmlformats.org/drawingml/2006/main">
              <a:ext uri="{FF2B5EF4-FFF2-40B4-BE49-F238E27FC236}">
                <a16:creationId xmlns:a16="http://schemas.microsoft.com/office/drawing/2014/main" id="{0C0310CB-A119-4A9C-976B-6F1C66591D8D}"/>
              </a:ext>
            </a:extLst>
          </p:cNvPr>
          <p:cNvSpPr>
            <a:spLocks xmlns:a="http://schemas.openxmlformats.org/drawingml/2006/main" noGrp="1"/>
          </p:cNvSpPr>
          <p:nvPr/>
        </p:nvSpPr>
        <p:spPr>
          <a:xfrm xmlns:a="http://schemas.openxmlformats.org/drawingml/2006/main">
            <a:off x="11334750" y="63817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36B78"/>
                </a:solidFill>
                <a:latin typeface="Arial"/>
                <a:ea typeface="Arial"/>
                <a:cs typeface="Arial"/>
              </a:defRPr>
            </a:defPPr>
          </a:lstStyle>
          <a:p xmlns:a="http://schemas.openxmlformats.org/drawingml/2006/main">
            <a:pPr>
              <a:defRPr sz="1275" b="0">
                <a:solidFill>
                  <a:srgbClr val="536B78"/>
                </a:solidFill>
                <a:latin typeface="Arial"/>
                <a:ea typeface="Arial"/>
                <a:cs typeface="Arial"/>
              </a:defRPr>
            </a:pPr>
            <a:r>
              <a:rPr sz="1275" b="0">
                <a:solidFill>
                  <a:srgbClr val="536B78"/>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DCF4F4B6-C38C-4565-AE09-A770DAC48ED9}"/>
              </a:ext>
            </a:extLst>
          </p:cNvPr>
          <p:cNvSpPr>
            <a:spLocks xmlns:a="http://schemas.openxmlformats.org/drawingml/2006/main" noGrp="1"/>
          </p:cNvSpPr>
          <p:nvPr/>
        </p:nvSpPr>
        <p:spPr>
          <a:xfrm xmlns:a="http://schemas.openxmlformats.org/drawingml/2006/main">
            <a:off x="571500" y="1552575"/>
            <a:ext cx="5286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B313E"/>
                </a:solidFill>
                <a:latin typeface="Arial"/>
                <a:ea typeface="Arial"/>
                <a:cs typeface="Arial"/>
              </a:defRPr>
            </a:defPPr>
          </a:lstStyle>
          <a:p xmlns:a="http://schemas.openxmlformats.org/drawingml/2006/main">
            <a:pPr>
              <a:defRPr sz="1800" b="0">
                <a:solidFill>
                  <a:srgbClr val="1B313E"/>
                </a:solidFill>
                <a:latin typeface="Arial"/>
                <a:ea typeface="Arial"/>
                <a:cs typeface="Arial"/>
              </a:defRPr>
            </a:pPr>
            <a:r>
              <a:rPr sz="1800" b="0">
                <a:solidFill>
                  <a:srgbClr val="1B313E"/>
                </a:solidFill>
                <a:latin typeface="Arial"/>
                <a:ea typeface="Arial"/>
                <a:cs typeface="Arial"/>
              </a:rPr>
              <a:t>[1] FHWA. PERCLOS validation. 1998.</a:t>
            </a:r>
          </a:p>
        </p:txBody>
      </p:sp>
      <p:sp>
        <p:nvSpPr>
          <p:cNvPr id="4" name="">
            <a:extLst xmlns:a="http://schemas.openxmlformats.org/drawingml/2006/main">
              <a:ext uri="{FF2B5EF4-FFF2-40B4-BE49-F238E27FC236}">
                <a16:creationId xmlns:a16="http://schemas.microsoft.com/office/drawing/2014/main" id="{1E369765-8908-40F3-940D-203DDDA54F9E}"/>
              </a:ext>
            </a:extLst>
          </p:cNvPr>
          <p:cNvSpPr>
            <a:spLocks xmlns:a="http://schemas.openxmlformats.org/drawingml/2006/main" noGrp="1"/>
          </p:cNvSpPr>
          <p:nvPr/>
        </p:nvSpPr>
        <p:spPr>
          <a:xfrm xmlns:a="http://schemas.openxmlformats.org/drawingml/2006/main">
            <a:off x="6334125" y="1552575"/>
            <a:ext cx="5286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B313E"/>
                </a:solidFill>
                <a:latin typeface="Arial"/>
                <a:ea typeface="Arial"/>
                <a:cs typeface="Arial"/>
              </a:defRPr>
            </a:defPPr>
          </a:lstStyle>
          <a:p xmlns:a="http://schemas.openxmlformats.org/drawingml/2006/main">
            <a:pPr>
              <a:defRPr sz="1800" b="0">
                <a:solidFill>
                  <a:srgbClr val="1B313E"/>
                </a:solidFill>
                <a:latin typeface="Arial"/>
                <a:ea typeface="Arial"/>
                <a:cs typeface="Arial"/>
              </a:defRPr>
            </a:pPr>
            <a:r>
              <a:rPr sz="1800" b="0">
                <a:solidFill>
                  <a:srgbClr val="1B313E"/>
                </a:solidFill>
                <a:latin typeface="Arial"/>
                <a:ea typeface="Arial"/>
                <a:cs typeface="Arial"/>
              </a:rPr>
              <a:t>[6] Evardson. Resting at the wheel. Pexels.</a:t>
            </a:r>
          </a:p>
        </p:txBody>
      </p:sp>
      <p:sp>
        <p:nvSpPr>
          <p:cNvPr id="5" name="">
            <a:extLst xmlns:a="http://schemas.openxmlformats.org/drawingml/2006/main">
              <a:ext uri="{FF2B5EF4-FFF2-40B4-BE49-F238E27FC236}">
                <a16:creationId xmlns:a16="http://schemas.microsoft.com/office/drawing/2014/main" id="{7779CE65-F32F-4A8C-AC30-CA852943ED53}"/>
              </a:ext>
            </a:extLst>
          </p:cNvPr>
          <p:cNvSpPr>
            <a:spLocks xmlns:a="http://schemas.openxmlformats.org/drawingml/2006/main" noGrp="1"/>
          </p:cNvSpPr>
          <p:nvPr/>
        </p:nvSpPr>
        <p:spPr>
          <a:xfrm xmlns:a="http://schemas.openxmlformats.org/drawingml/2006/main">
            <a:off x="571500" y="2362200"/>
            <a:ext cx="5286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B313E"/>
                </a:solidFill>
                <a:latin typeface="Arial"/>
                <a:ea typeface="Arial"/>
                <a:cs typeface="Arial"/>
              </a:defRPr>
            </a:defPPr>
          </a:lstStyle>
          <a:p xmlns:a="http://schemas.openxmlformats.org/drawingml/2006/main">
            <a:pPr>
              <a:defRPr sz="1800" b="0">
                <a:solidFill>
                  <a:srgbClr val="1B313E"/>
                </a:solidFill>
                <a:latin typeface="Arial"/>
                <a:ea typeface="Arial"/>
                <a:cs typeface="Arial"/>
              </a:defRPr>
            </a:pPr>
            <a:r>
              <a:rPr sz="1800" b="0">
                <a:solidFill>
                  <a:srgbClr val="1B313E"/>
                </a:solidFill>
                <a:latin typeface="Arial"/>
                <a:ea typeface="Arial"/>
                <a:cs typeface="Arial"/>
              </a:rPr>
              <a:t>[2] Soukupová and Čech. Eye blink detection. 2016.</a:t>
            </a:r>
          </a:p>
        </p:txBody>
      </p:sp>
      <p:sp>
        <p:nvSpPr>
          <p:cNvPr id="6" name="">
            <a:extLst xmlns:a="http://schemas.openxmlformats.org/drawingml/2006/main">
              <a:ext uri="{FF2B5EF4-FFF2-40B4-BE49-F238E27FC236}">
                <a16:creationId xmlns:a16="http://schemas.microsoft.com/office/drawing/2014/main" id="{362C6BEC-DDA5-4BDF-8F1E-E97CD513F988}"/>
              </a:ext>
            </a:extLst>
          </p:cNvPr>
          <p:cNvSpPr>
            <a:spLocks xmlns:a="http://schemas.openxmlformats.org/drawingml/2006/main" noGrp="1"/>
          </p:cNvSpPr>
          <p:nvPr/>
        </p:nvSpPr>
        <p:spPr>
          <a:xfrm xmlns:a="http://schemas.openxmlformats.org/drawingml/2006/main">
            <a:off x="6334125" y="2362200"/>
            <a:ext cx="5286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B313E"/>
                </a:solidFill>
                <a:latin typeface="Arial"/>
                <a:ea typeface="Arial"/>
                <a:cs typeface="Arial"/>
              </a:defRPr>
            </a:defPPr>
          </a:lstStyle>
          <a:p xmlns:a="http://schemas.openxmlformats.org/drawingml/2006/main">
            <a:pPr>
              <a:defRPr sz="1800" b="0">
                <a:solidFill>
                  <a:srgbClr val="1B313E"/>
                </a:solidFill>
                <a:latin typeface="Arial"/>
                <a:ea typeface="Arial"/>
                <a:cs typeface="Arial"/>
              </a:defRPr>
            </a:pPr>
            <a:r>
              <a:rPr sz="1800" b="0">
                <a:solidFill>
                  <a:srgbClr val="1B313E"/>
                </a:solidFill>
                <a:latin typeface="Arial"/>
                <a:ea typeface="Arial"/>
                <a:cs typeface="Arial"/>
              </a:rPr>
              <a:t>[7] Lyu et al. Multi-granularity framework. 2018.</a:t>
            </a:r>
          </a:p>
        </p:txBody>
      </p:sp>
      <p:sp>
        <p:nvSpPr>
          <p:cNvPr id="7" name="">
            <a:extLst xmlns:a="http://schemas.openxmlformats.org/drawingml/2006/main">
              <a:ext uri="{FF2B5EF4-FFF2-40B4-BE49-F238E27FC236}">
                <a16:creationId xmlns:a16="http://schemas.microsoft.com/office/drawing/2014/main" id="{2D171BB1-BAC4-4A73-9F22-8E3E992C0DE6}"/>
              </a:ext>
            </a:extLst>
          </p:cNvPr>
          <p:cNvSpPr>
            <a:spLocks xmlns:a="http://schemas.openxmlformats.org/drawingml/2006/main" noGrp="1"/>
          </p:cNvSpPr>
          <p:nvPr/>
        </p:nvSpPr>
        <p:spPr>
          <a:xfrm xmlns:a="http://schemas.openxmlformats.org/drawingml/2006/main">
            <a:off x="571500" y="3171825"/>
            <a:ext cx="5286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B313E"/>
                </a:solidFill>
                <a:latin typeface="Arial"/>
                <a:ea typeface="Arial"/>
                <a:cs typeface="Arial"/>
              </a:defRPr>
            </a:defPPr>
          </a:lstStyle>
          <a:p xmlns:a="http://schemas.openxmlformats.org/drawingml/2006/main">
            <a:pPr>
              <a:defRPr sz="1800" b="0">
                <a:solidFill>
                  <a:srgbClr val="1B313E"/>
                </a:solidFill>
                <a:latin typeface="Arial"/>
                <a:ea typeface="Arial"/>
                <a:cs typeface="Arial"/>
              </a:defRPr>
            </a:pPr>
            <a:r>
              <a:rPr sz="1800" b="0">
                <a:solidFill>
                  <a:srgbClr val="1B313E"/>
                </a:solidFill>
                <a:latin typeface="Arial"/>
                <a:ea typeface="Arial"/>
                <a:cs typeface="Arial"/>
              </a:rPr>
              <a:t>[3] Abtahi et al. YawDD. 2014.</a:t>
            </a:r>
          </a:p>
        </p:txBody>
      </p:sp>
      <p:sp>
        <p:nvSpPr>
          <p:cNvPr id="8" name="">
            <a:extLst xmlns:a="http://schemas.openxmlformats.org/drawingml/2006/main">
              <a:ext uri="{FF2B5EF4-FFF2-40B4-BE49-F238E27FC236}">
                <a16:creationId xmlns:a16="http://schemas.microsoft.com/office/drawing/2014/main" id="{E75BA562-C8AA-48AE-A7A1-822127D48AD8}"/>
              </a:ext>
            </a:extLst>
          </p:cNvPr>
          <p:cNvSpPr>
            <a:spLocks xmlns:a="http://schemas.openxmlformats.org/drawingml/2006/main" noGrp="1"/>
          </p:cNvSpPr>
          <p:nvPr/>
        </p:nvSpPr>
        <p:spPr>
          <a:xfrm xmlns:a="http://schemas.openxmlformats.org/drawingml/2006/main">
            <a:off x="6334125" y="3171825"/>
            <a:ext cx="5286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B313E"/>
                </a:solidFill>
                <a:latin typeface="Arial"/>
                <a:ea typeface="Arial"/>
                <a:cs typeface="Arial"/>
              </a:defRPr>
            </a:defPPr>
          </a:lstStyle>
          <a:p xmlns:a="http://schemas.openxmlformats.org/drawingml/2006/main">
            <a:pPr>
              <a:defRPr sz="1800" b="0">
                <a:solidFill>
                  <a:srgbClr val="1B313E"/>
                </a:solidFill>
                <a:latin typeface="Arial"/>
                <a:ea typeface="Arial"/>
                <a:cs typeface="Arial"/>
              </a:defRPr>
            </a:pPr>
            <a:r>
              <a:rPr sz="1800" b="0">
                <a:solidFill>
                  <a:srgbClr val="1B313E"/>
                </a:solidFill>
                <a:latin typeface="Arial"/>
                <a:ea typeface="Arial"/>
                <a:cs typeface="Arial"/>
              </a:rPr>
              <a:t>[8] Ghoddoosian et al. UTA-RLDD. 2019.</a:t>
            </a:r>
          </a:p>
        </p:txBody>
      </p:sp>
      <p:sp>
        <p:nvSpPr>
          <p:cNvPr id="9" name="">
            <a:extLst xmlns:a="http://schemas.openxmlformats.org/drawingml/2006/main">
              <a:ext uri="{FF2B5EF4-FFF2-40B4-BE49-F238E27FC236}">
                <a16:creationId xmlns:a16="http://schemas.microsoft.com/office/drawing/2014/main" id="{367A7544-2C26-46E5-9933-035B1879BA95}"/>
              </a:ext>
            </a:extLst>
          </p:cNvPr>
          <p:cNvSpPr>
            <a:spLocks xmlns:a="http://schemas.openxmlformats.org/drawingml/2006/main" noGrp="1"/>
          </p:cNvSpPr>
          <p:nvPr/>
        </p:nvSpPr>
        <p:spPr>
          <a:xfrm xmlns:a="http://schemas.openxmlformats.org/drawingml/2006/main">
            <a:off x="571500" y="3981450"/>
            <a:ext cx="5286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B313E"/>
                </a:solidFill>
                <a:latin typeface="Arial"/>
                <a:ea typeface="Arial"/>
                <a:cs typeface="Arial"/>
              </a:defRPr>
            </a:defPPr>
          </a:lstStyle>
          <a:p xmlns:a="http://schemas.openxmlformats.org/drawingml/2006/main">
            <a:pPr>
              <a:defRPr sz="1800" b="0">
                <a:solidFill>
                  <a:srgbClr val="1B313E"/>
                </a:solidFill>
                <a:latin typeface="Arial"/>
                <a:ea typeface="Arial"/>
                <a:cs typeface="Arial"/>
              </a:defRPr>
            </a:pPr>
            <a:r>
              <a:rPr sz="1800" b="0">
                <a:solidFill>
                  <a:srgbClr val="1B313E"/>
                </a:solidFill>
                <a:latin typeface="Arial"/>
                <a:ea typeface="Arial"/>
                <a:cs typeface="Arial"/>
              </a:rPr>
              <a:t>[4] NHTSA. Drowsy driving.</a:t>
            </a:r>
          </a:p>
        </p:txBody>
      </p:sp>
      <p:sp>
        <p:nvSpPr>
          <p:cNvPr id="10" name="">
            <a:extLst xmlns:a="http://schemas.openxmlformats.org/drawingml/2006/main">
              <a:ext uri="{FF2B5EF4-FFF2-40B4-BE49-F238E27FC236}">
                <a16:creationId xmlns:a16="http://schemas.microsoft.com/office/drawing/2014/main" id="{E3356DA1-A8E4-49C1-94E5-463F1149D24A}"/>
              </a:ext>
            </a:extLst>
          </p:cNvPr>
          <p:cNvSpPr>
            <a:spLocks xmlns:a="http://schemas.openxmlformats.org/drawingml/2006/main" noGrp="1"/>
          </p:cNvSpPr>
          <p:nvPr/>
        </p:nvSpPr>
        <p:spPr>
          <a:xfrm xmlns:a="http://schemas.openxmlformats.org/drawingml/2006/main">
            <a:off x="6334125" y="3981450"/>
            <a:ext cx="5286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B313E"/>
                </a:solidFill>
                <a:latin typeface="Arial"/>
                <a:ea typeface="Arial"/>
                <a:cs typeface="Arial"/>
              </a:defRPr>
            </a:defPPr>
          </a:lstStyle>
          <a:p xmlns:a="http://schemas.openxmlformats.org/drawingml/2006/main">
            <a:pPr>
              <a:defRPr sz="1800" b="0">
                <a:solidFill>
                  <a:srgbClr val="1B313E"/>
                </a:solidFill>
                <a:latin typeface="Arial"/>
                <a:ea typeface="Arial"/>
                <a:cs typeface="Arial"/>
              </a:defRPr>
            </a:pPr>
            <a:r>
              <a:rPr sz="1800" b="0">
                <a:solidFill>
                  <a:srgbClr val="1B313E"/>
                </a:solidFill>
                <a:latin typeface="Arial"/>
                <a:ea typeface="Arial"/>
                <a:cs typeface="Arial"/>
              </a:rPr>
              <a:t>[9] Dewi et al. Adjusted EAR. 2022.</a:t>
            </a:r>
          </a:p>
        </p:txBody>
      </p:sp>
      <p:sp>
        <p:nvSpPr>
          <p:cNvPr id="11" name="">
            <a:extLst xmlns:a="http://schemas.openxmlformats.org/drawingml/2006/main">
              <a:ext uri="{FF2B5EF4-FFF2-40B4-BE49-F238E27FC236}">
                <a16:creationId xmlns:a16="http://schemas.microsoft.com/office/drawing/2014/main" id="{0436B9F6-4CB6-445C-B3F4-1FA4F8063D1F}"/>
              </a:ext>
            </a:extLst>
          </p:cNvPr>
          <p:cNvSpPr>
            <a:spLocks xmlns:a="http://schemas.openxmlformats.org/drawingml/2006/main" noGrp="1"/>
          </p:cNvSpPr>
          <p:nvPr/>
        </p:nvSpPr>
        <p:spPr>
          <a:xfrm xmlns:a="http://schemas.openxmlformats.org/drawingml/2006/main">
            <a:off x="571500" y="4791075"/>
            <a:ext cx="5286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B313E"/>
                </a:solidFill>
                <a:latin typeface="Arial"/>
                <a:ea typeface="Arial"/>
                <a:cs typeface="Arial"/>
              </a:defRPr>
            </a:defPPr>
          </a:lstStyle>
          <a:p xmlns:a="http://schemas.openxmlformats.org/drawingml/2006/main">
            <a:pPr>
              <a:defRPr sz="1800" b="0">
                <a:solidFill>
                  <a:srgbClr val="1B313E"/>
                </a:solidFill>
                <a:latin typeface="Arial"/>
                <a:ea typeface="Arial"/>
                <a:cs typeface="Arial"/>
              </a:defRPr>
            </a:pPr>
            <a:r>
              <a:rPr sz="1800" b="0">
                <a:solidFill>
                  <a:srgbClr val="1B313E"/>
                </a:solidFill>
                <a:latin typeface="Arial"/>
                <a:ea typeface="Arial"/>
                <a:cs typeface="Arial"/>
              </a:rPr>
              <a:t>[5] CDC. Drowsy driving poster. 2022.</a:t>
            </a:r>
          </a:p>
        </p:txBody>
      </p:sp>
      <p:sp>
        <p:nvSpPr>
          <p:cNvPr id="12" name="">
            <a:extLst xmlns:a="http://schemas.openxmlformats.org/drawingml/2006/main">
              <a:ext uri="{FF2B5EF4-FFF2-40B4-BE49-F238E27FC236}">
                <a16:creationId xmlns:a16="http://schemas.microsoft.com/office/drawing/2014/main" id="{9B27C91D-CA0D-4A28-A0D4-BB1069D6C2F1}"/>
              </a:ext>
            </a:extLst>
          </p:cNvPr>
          <p:cNvSpPr>
            <a:spLocks xmlns:a="http://schemas.openxmlformats.org/drawingml/2006/main" noGrp="1"/>
          </p:cNvSpPr>
          <p:nvPr/>
        </p:nvSpPr>
        <p:spPr>
          <a:xfrm xmlns:a="http://schemas.openxmlformats.org/drawingml/2006/main">
            <a:off x="6334125" y="4791075"/>
            <a:ext cx="5286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B313E"/>
                </a:solidFill>
                <a:latin typeface="Arial"/>
                <a:ea typeface="Arial"/>
                <a:cs typeface="Arial"/>
              </a:defRPr>
            </a:defPPr>
          </a:lstStyle>
          <a:p xmlns:a="http://schemas.openxmlformats.org/drawingml/2006/main">
            <a:pPr>
              <a:defRPr sz="1800" b="0">
                <a:solidFill>
                  <a:srgbClr val="1B313E"/>
                </a:solidFill>
                <a:latin typeface="Arial"/>
                <a:ea typeface="Arial"/>
                <a:cs typeface="Arial"/>
              </a:defRPr>
            </a:pPr>
            <a:r>
              <a:rPr sz="1800" b="0">
                <a:solidFill>
                  <a:srgbClr val="1B313E"/>
                </a:solidFill>
                <a:latin typeface="Arial"/>
                <a:ea typeface="Arial"/>
                <a:cs typeface="Arial"/>
              </a:rPr>
              <a:t>[10] Mujtaba et al. YawDD+. Version 3, 2026.</a:t>
            </a:r>
          </a:p>
        </p:txBody>
      </p:sp>
      <p:sp>
        <p:nvSpPr>
          <p:cNvPr id="13" name="">
            <a:extLst xmlns:a="http://schemas.openxmlformats.org/drawingml/2006/main">
              <a:ext uri="{FF2B5EF4-FFF2-40B4-BE49-F238E27FC236}">
                <a16:creationId xmlns:a16="http://schemas.microsoft.com/office/drawing/2014/main" id="{0C441FE6-76B8-4C75-8F30-4CB481003E90}"/>
              </a:ext>
            </a:extLst>
          </p:cNvPr>
          <p:cNvSpPr>
            <a:spLocks xmlns:a="http://schemas.openxmlformats.org/drawingml/2006/main" noGrp="1"/>
          </p:cNvSpPr>
          <p:nvPr/>
        </p:nvSpPr>
        <p:spPr>
          <a:xfrm xmlns:a="http://schemas.openxmlformats.org/drawingml/2006/main">
            <a:off x="571500" y="5953125"/>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B78"/>
                </a:solidFill>
                <a:latin typeface="Arial"/>
                <a:ea typeface="Arial"/>
                <a:cs typeface="Arial"/>
              </a:defRPr>
            </a:defPPr>
          </a:lstStyle>
          <a:p xmlns:a="http://schemas.openxmlformats.org/drawingml/2006/main">
            <a:pPr>
              <a:defRPr sz="1650" b="0">
                <a:solidFill>
                  <a:srgbClr val="536B78"/>
                </a:solidFill>
                <a:latin typeface="Arial"/>
                <a:ea typeface="Arial"/>
                <a:cs typeface="Arial"/>
              </a:defRPr>
            </a:pPr>
            <a:r>
              <a:rPr sz="1650" b="0">
                <a:solidFill>
                  <a:srgbClr val="536B78"/>
                </a:solidFill>
                <a:latin typeface="Arial"/>
                <a:ea typeface="Arial"/>
                <a:cs typeface="Arial"/>
              </a:rPr>
              <a:t>Full citations and image credits appear in the speaker notes.</a:t>
            </a:r>
          </a:p>
        </p:txBody>
      </p:sp>
    </p:spTree>
    <p:extLst>
      <p:ext uri="{BB962C8B-B14F-4D97-AF65-F5344CB8AC3E}">
        <p14:creationId xmlns:p14="http://schemas.microsoft.com/office/powerpoint/2010/main" val="11470122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2026-10-16T19:34:01.4460000Z</dcterms:created>
  <dcterms:modified xsi:type="dcterms:W3CDTF">2026-10-16T19:34:01.4460000Z</dcterms:modified>
</coreProperties>
</file>